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1" r:id="rId3"/>
    <p:sldId id="257" r:id="rId4"/>
    <p:sldId id="263" r:id="rId5"/>
    <p:sldId id="258" r:id="rId6"/>
    <p:sldId id="264" r:id="rId7"/>
    <p:sldId id="265" r:id="rId8"/>
    <p:sldId id="266" r:id="rId9"/>
    <p:sldId id="278" r:id="rId10"/>
    <p:sldId id="279" r:id="rId11"/>
    <p:sldId id="280" r:id="rId12"/>
    <p:sldId id="267" r:id="rId13"/>
    <p:sldId id="281" r:id="rId14"/>
    <p:sldId id="282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60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62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783" autoAdjust="0"/>
  </p:normalViewPr>
  <p:slideViewPr>
    <p:cSldViewPr snapToGrid="0" snapToObjects="1">
      <p:cViewPr varScale="1">
        <p:scale>
          <a:sx n="101" d="100"/>
          <a:sy n="101" d="100"/>
        </p:scale>
        <p:origin x="10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45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제목과 강사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제목과 강사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254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다룰 내용의 흐름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요약과 마무리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665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817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278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560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05DF-4881-6C6C-5512-283B6892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91DE8-EB48-4A21-2D51-176500D95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CFD10-BF78-31A6-3057-55E1D808A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디자인은 멀쩡한데 알맹이가 없습니다. 실제 파일을 안 읽었으니 </a:t>
            </a:r>
            <a:r>
              <a:rPr lang="ko-KR" altLang="ko-KR" dirty="0" err="1"/>
              <a:t>AI가</a:t>
            </a:r>
            <a:r>
              <a:rPr lang="ko-KR" altLang="ko-KR" dirty="0"/>
              <a:t> 사전지식으로 때운 전형적 결과물:</a:t>
            </a:r>
          </a:p>
          <a:p>
            <a:pPr lvl="0" rtl="0"/>
            <a:r>
              <a:rPr lang="ko-KR" altLang="ko-KR" dirty="0"/>
              <a:t>수치가 전부 </a:t>
            </a:r>
            <a:r>
              <a:rPr lang="ko-KR" altLang="ko-KR" b="1" dirty="0"/>
              <a:t>"400여 명 수준" · "절반 가량" · "약 50~60%로 추정"</a:t>
            </a:r>
            <a:r>
              <a:rPr lang="ko-KR" altLang="ko-KR" dirty="0"/>
              <a:t> — 표에는 "데이터 확인 필요"</a:t>
            </a:r>
          </a:p>
          <a:p>
            <a:pPr lvl="0" rtl="0"/>
            <a:r>
              <a:rPr lang="ko-KR" altLang="ko-KR" dirty="0"/>
              <a:t>분석 노트가 </a:t>
            </a:r>
            <a:r>
              <a:rPr lang="ko-KR" altLang="ko-KR" b="1" dirty="0" err="1"/>
              <a:t>하나마나한</a:t>
            </a:r>
            <a:r>
              <a:rPr lang="ko-KR" altLang="ko-KR" b="1" dirty="0"/>
              <a:t> 일반론</a:t>
            </a:r>
            <a:r>
              <a:rPr lang="ko-KR" altLang="ko-KR" dirty="0"/>
              <a:t> ("맞춤형 상담이 중요하며… 긴밀한 소통을 통해…")</a:t>
            </a:r>
          </a:p>
          <a:p>
            <a:pPr lvl="0" rtl="0"/>
            <a:r>
              <a:rPr lang="ko-KR" altLang="ko-KR" dirty="0"/>
              <a:t>출처: "일반적인 입시 경향 및 언론 보도 종합"</a:t>
            </a:r>
          </a:p>
          <a:p>
            <a:pPr rtl="0"/>
            <a:r>
              <a:rPr lang="ko-KR" altLang="ko-KR" dirty="0"/>
              <a:t>강의 멘트: </a:t>
            </a:r>
            <a:r>
              <a:rPr lang="ko-KR" altLang="ko-KR" i="1" dirty="0"/>
              <a:t>"그럴듯하게 말은 하는데, 숫자가 하나도 없죠? 컨텍스트를 안 주면 </a:t>
            </a:r>
            <a:r>
              <a:rPr lang="ko-KR" altLang="ko-KR" i="1" dirty="0" err="1"/>
              <a:t>AI는</a:t>
            </a:r>
            <a:r>
              <a:rPr lang="ko-KR" altLang="ko-KR" i="1" dirty="0"/>
              <a:t> 아는 척을 합니다."</a:t>
            </a:r>
            <a:endParaRPr lang="ko-KR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40524-4BC9-85B7-37D2-90F753AED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114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6BF4-B589-0F49-5CD1-19D69950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6C4E-C491-1130-7860-BD610BD39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7D6B2-3FF7-E029-8C00-374A9A766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수치(407명, 49.1% 등)는 전부 정확한데 산출물이 미완성:</a:t>
            </a:r>
          </a:p>
          <a:p>
            <a:pPr lvl="0" rtl="0"/>
            <a:r>
              <a:rPr lang="ko-KR" altLang="ko-KR" dirty="0"/>
              <a:t>폰트가 명조체 기본값, 노란 형광 헤더의 90년대식 표, </a:t>
            </a:r>
            <a:r>
              <a:rPr lang="ko-KR" altLang="ko-KR" b="1" dirty="0"/>
              <a:t>표가 페이지 오른쪽으로 </a:t>
            </a:r>
            <a:r>
              <a:rPr lang="ko-KR" altLang="ko-KR" b="1" dirty="0" err="1"/>
              <a:t>삐져나가</a:t>
            </a:r>
            <a:r>
              <a:rPr lang="ko-KR" altLang="ko-KR" b="1" dirty="0"/>
              <a:t> 그래프 잘림</a:t>
            </a:r>
            <a:endParaRPr lang="ko-KR" altLang="ko-KR" dirty="0"/>
          </a:p>
          <a:p>
            <a:pPr lvl="0" rtl="0"/>
            <a:r>
              <a:rPr lang="ko-KR" altLang="ko-KR" b="1" dirty="0"/>
              <a:t>{{SCHOOL_NAME}}, {{BAR_CHART}} </a:t>
            </a:r>
            <a:r>
              <a:rPr lang="ko-KR" altLang="ko-KR" b="1" dirty="0" err="1"/>
              <a:t>플레이스홀더</a:t>
            </a:r>
            <a:r>
              <a:rPr lang="ko-KR" altLang="ko-KR" b="1" dirty="0"/>
              <a:t> 그대로 노출</a:t>
            </a:r>
            <a:r>
              <a:rPr lang="ko-KR" altLang="ko-KR" dirty="0"/>
              <a:t>, 카드 하나는 겹쳐서 어긋남</a:t>
            </a:r>
          </a:p>
          <a:p>
            <a:pPr lvl="0" rtl="0"/>
            <a:r>
              <a:rPr lang="ko-KR" altLang="ko-KR" dirty="0"/>
              <a:t>분석 노트 끝에 </a:t>
            </a:r>
            <a:r>
              <a:rPr lang="ko-KR" altLang="ko-KR" b="1" dirty="0"/>
              <a:t>"TODO: 여기 </a:t>
            </a:r>
            <a:r>
              <a:rPr lang="ko-KR" altLang="ko-KR" b="1" dirty="0" err="1"/>
              <a:t>표랑</a:t>
            </a:r>
            <a:r>
              <a:rPr lang="ko-KR" altLang="ko-KR" b="1" dirty="0"/>
              <a:t> 그래프 디자인 원본이랑 맞추기"</a:t>
            </a:r>
            <a:r>
              <a:rPr lang="ko-KR" altLang="ko-KR" dirty="0"/>
              <a:t> 잔존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5F453-4450-E849-F026-73A70226D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114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5754-7952-4390-8F91-10B8FA00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73528-97C1-4629-7C0D-058370080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B674A-EA4C-A04D-D3EE-F9970FE57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디자인 완벽, 문장 자신만만. 그런데 검산하면 무너집니다:</a:t>
            </a:r>
          </a:p>
          <a:p>
            <a:pPr lvl="0" rtl="0"/>
            <a:r>
              <a:rPr lang="ko-KR" altLang="ko-KR" dirty="0"/>
              <a:t>졸업자 </a:t>
            </a:r>
            <a:r>
              <a:rPr lang="ko-KR" altLang="ko-KR" b="1" dirty="0"/>
              <a:t>380명</a:t>
            </a:r>
            <a:r>
              <a:rPr lang="ko-KR" altLang="ko-KR" dirty="0"/>
              <a:t>인데 진학 200 + 기타 207 = </a:t>
            </a:r>
            <a:r>
              <a:rPr lang="ko-KR" altLang="ko-KR" b="1" dirty="0"/>
              <a:t>407</a:t>
            </a:r>
            <a:r>
              <a:rPr lang="ko-KR" altLang="ko-KR" dirty="0"/>
              <a:t> (합계 불일치)</a:t>
            </a:r>
          </a:p>
          <a:p>
            <a:pPr lvl="0" rtl="0"/>
            <a:r>
              <a:rPr lang="ko-KR" altLang="ko-KR" dirty="0"/>
              <a:t>카드는 진학률 </a:t>
            </a:r>
            <a:r>
              <a:rPr lang="ko-KR" altLang="ko-KR" b="1" dirty="0"/>
              <a:t>80.2%</a:t>
            </a:r>
            <a:r>
              <a:rPr lang="ko-KR" altLang="ko-KR" dirty="0"/>
              <a:t>, 표는 </a:t>
            </a:r>
            <a:r>
              <a:rPr lang="ko-KR" altLang="ko-KR" b="1" dirty="0"/>
              <a:t>49.1%</a:t>
            </a:r>
            <a:r>
              <a:rPr lang="ko-KR" altLang="ko-KR" dirty="0"/>
              <a:t>, 그래프 막대는 80%로 </a:t>
            </a:r>
            <a:r>
              <a:rPr lang="ko-KR" altLang="ko-KR" dirty="0" err="1"/>
              <a:t>그려짐</a:t>
            </a:r>
            <a:r>
              <a:rPr lang="ko-KR" altLang="ko-KR" dirty="0"/>
              <a:t> — 셋이 다 다름</a:t>
            </a:r>
          </a:p>
          <a:p>
            <a:pPr lvl="0" rtl="0"/>
            <a:r>
              <a:rPr lang="ko-KR" altLang="ko-KR" dirty="0"/>
              <a:t>기타 207명이 </a:t>
            </a:r>
            <a:r>
              <a:rPr lang="ko-KR" altLang="ko-KR" b="1" dirty="0"/>
              <a:t>5.9%</a:t>
            </a:r>
            <a:r>
              <a:rPr lang="ko-KR" altLang="ko-KR" dirty="0"/>
              <a:t>, 4년제 비중 </a:t>
            </a:r>
            <a:r>
              <a:rPr lang="ko-KR" altLang="ko-KR" b="1" dirty="0"/>
              <a:t>"193% (96.5/200)"</a:t>
            </a:r>
            <a:r>
              <a:rPr lang="ko-KR" altLang="ko-KR" dirty="0"/>
              <a:t> (숫자 자리 뒤바뀜), 2023↔2024 행 데이터 뒤섞임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4404D-3A73-5297-2220-AFE1015D6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052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127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3EF8D-4F98-DB99-91B6-A31E6ACC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B2D62-BC49-D1EA-0B84-E69BC289A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20AE6-9949-DCA8-AC5F-EB2AFE4F9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프롬프트가 좋았던 흔적은 뚜렷합니다: 역할(입시 컨설턴트) 반영, 요청한 구조(핵심 요약 → 연도별 추이 → </a:t>
            </a:r>
            <a:r>
              <a:rPr lang="ko-KR" altLang="ko-KR" dirty="0" err="1"/>
              <a:t>분석·제언</a:t>
            </a:r>
            <a:r>
              <a:rPr lang="ko-KR" altLang="ko-KR" dirty="0"/>
              <a:t>) 완벽 준수, 문장도 전문적. </a:t>
            </a:r>
            <a:r>
              <a:rPr lang="ko-KR" altLang="ko-KR" b="1" dirty="0"/>
              <a:t>그런데 "무엇을 </a:t>
            </a:r>
            <a:r>
              <a:rPr lang="ko-KR" altLang="ko-KR" b="1" dirty="0" err="1"/>
              <a:t>보여줄지"를</a:t>
            </a:r>
            <a:r>
              <a:rPr lang="ko-KR" altLang="ko-KR" b="1" dirty="0"/>
              <a:t> 안 줬으니:</a:t>
            </a:r>
            <a:endParaRPr lang="ko-KR" altLang="ko-KR" dirty="0"/>
          </a:p>
          <a:p>
            <a:pPr lvl="0" rtl="0"/>
            <a:r>
              <a:rPr lang="ko-KR" altLang="ko-KR" dirty="0"/>
              <a:t>모든 수치가 "약 400명 (추정)" · "50% 내외 (추정)" · "업계 통상 수준 기준"</a:t>
            </a:r>
          </a:p>
          <a:p>
            <a:pPr lvl="0" rtl="0"/>
            <a:r>
              <a:rPr lang="ko-KR" altLang="ko-KR" dirty="0"/>
              <a:t>디자인은 리포트 원본과 무관한 AI 기본 스타일 (파란 </a:t>
            </a:r>
            <a:r>
              <a:rPr lang="ko-KR" altLang="ko-KR" dirty="0" err="1"/>
              <a:t>그라데이션</a:t>
            </a:r>
            <a:r>
              <a:rPr lang="ko-KR" altLang="ko-KR" dirty="0"/>
              <a:t> + </a:t>
            </a:r>
            <a:r>
              <a:rPr lang="ko-KR" altLang="ko-KR" dirty="0" err="1"/>
              <a:t>이모지</a:t>
            </a:r>
            <a:r>
              <a:rPr lang="ko-KR" altLang="ko-KR" dirty="0"/>
              <a:t>)</a:t>
            </a:r>
          </a:p>
          <a:p>
            <a:pPr lvl="0" rtl="0"/>
            <a:r>
              <a:rPr lang="ko-KR" altLang="ko-KR" dirty="0"/>
              <a:t>제언이 "공시 자료를 확보하시기 바랍니다" — </a:t>
            </a:r>
            <a:r>
              <a:rPr lang="ko-KR" altLang="ko-KR" dirty="0" err="1"/>
              <a:t>AI가</a:t>
            </a:r>
            <a:r>
              <a:rPr lang="ko-KR" altLang="ko-KR" dirty="0"/>
              <a:t> 스스로 데이터 없음을 실토</a:t>
            </a:r>
          </a:p>
          <a:p>
            <a:pPr lvl="0" rtl="0"/>
            <a:r>
              <a:rPr lang="ko-KR" altLang="ko-KR" dirty="0"/>
              <a:t>하단 면책: "실제 공시 데이터와 다를 수 있습니다"</a:t>
            </a:r>
          </a:p>
          <a:p>
            <a:pPr rtl="0"/>
            <a:r>
              <a:rPr lang="ko-KR" altLang="ko-KR" dirty="0"/>
              <a:t>강의 멘트: </a:t>
            </a:r>
            <a:r>
              <a:rPr lang="ko-KR" altLang="ko-KR" i="1" dirty="0"/>
              <a:t>"말은 잘하죠? 프롬프트가 좋으니까요. 근데 재료가 없으니 전부 '</a:t>
            </a:r>
            <a:r>
              <a:rPr lang="ko-KR" altLang="ko-KR" i="1" dirty="0" err="1"/>
              <a:t>추정'입니다</a:t>
            </a:r>
            <a:r>
              <a:rPr lang="ko-KR" altLang="ko-KR" i="1" dirty="0"/>
              <a:t>."</a:t>
            </a:r>
            <a:endParaRPr lang="ko-KR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4E6F-E1DC-4A47-3ADD-4A96D4500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801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1781-81CA-0A5F-6A4D-12D985C6E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57566-DC57-3428-C6E1-9BF726A23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ABD2E-F1F5-9BD6-5FAB-893FED24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ko-KR" dirty="0"/>
              <a:t>실제 KESS 데이터 + 원본 디자인 토큰을 줬더니 수치 정확, 디자인 재현. </a:t>
            </a:r>
            <a:r>
              <a:rPr lang="ko-KR" altLang="ko-KR" b="1" dirty="0"/>
              <a:t>그런데 검증 루프 없는 </a:t>
            </a:r>
            <a:r>
              <a:rPr lang="ko-KR" altLang="ko-KR" b="1" dirty="0" err="1"/>
              <a:t>원샷이라</a:t>
            </a:r>
            <a:r>
              <a:rPr lang="ko-KR" altLang="ko-KR" b="1" dirty="0"/>
              <a:t> 마감 하자 7개가 그대로 남았습니다</a:t>
            </a:r>
            <a:r>
              <a:rPr lang="ko-KR" altLang="ko-KR" dirty="0"/>
              <a:t> (청중 찾기 퀴즈용):</a:t>
            </a:r>
          </a:p>
          <a:p>
            <a:pPr lvl="0" rtl="0"/>
            <a:r>
              <a:rPr lang="ko-KR" altLang="ko-KR" dirty="0"/>
              <a:t>제목이 길어 두 줄로 꺾임</a:t>
            </a:r>
          </a:p>
          <a:p>
            <a:pPr lvl="0" rtl="0"/>
            <a:r>
              <a:rPr lang="ko-KR" altLang="ko-KR" dirty="0"/>
              <a:t>카드에 "49.14004914%" — 소수점 </a:t>
            </a:r>
            <a:r>
              <a:rPr lang="ko-KR" altLang="ko-KR" dirty="0" err="1"/>
              <a:t>미정리</a:t>
            </a:r>
            <a:endParaRPr lang="ko-KR" altLang="ko-KR" dirty="0"/>
          </a:p>
          <a:p>
            <a:pPr lvl="0" rtl="0"/>
            <a:r>
              <a:rPr lang="ko-KR" altLang="ko-KR" dirty="0"/>
              <a:t>섹션 번호가 "08-1"이 두 번</a:t>
            </a:r>
          </a:p>
          <a:p>
            <a:pPr lvl="0" rtl="0"/>
            <a:r>
              <a:rPr lang="ko-KR" altLang="ko-KR" dirty="0"/>
              <a:t>2023년 진학률 "0.0" — </a:t>
            </a:r>
            <a:r>
              <a:rPr lang="ko-KR" altLang="ko-KR" dirty="0" err="1"/>
              <a:t>원파일</a:t>
            </a:r>
            <a:r>
              <a:rPr lang="ko-KR" altLang="ko-KR" dirty="0"/>
              <a:t> </a:t>
            </a:r>
            <a:r>
              <a:rPr lang="ko-KR" altLang="ko-KR" dirty="0" err="1"/>
              <a:t>미기재값을</a:t>
            </a:r>
            <a:r>
              <a:rPr lang="ko-KR" altLang="ko-KR" dirty="0"/>
              <a:t> 재계산 없이 그대로 출력</a:t>
            </a:r>
          </a:p>
          <a:p>
            <a:pPr lvl="0" rtl="0"/>
            <a:r>
              <a:rPr lang="ko-KR" altLang="ko-KR" dirty="0"/>
              <a:t>2024년 행 그래프 색이 범례와 뒤바뀜 (주황=취업이 기타 자리에)</a:t>
            </a:r>
          </a:p>
          <a:p>
            <a:pPr lvl="0" rtl="0"/>
            <a:r>
              <a:rPr lang="ko-KR" altLang="ko-KR" dirty="0"/>
              <a:t>최신 행 하이라이트 누락</a:t>
            </a:r>
          </a:p>
          <a:p>
            <a:pPr lvl="0" rtl="0"/>
            <a:r>
              <a:rPr lang="ko-KR" altLang="ko-KR" dirty="0"/>
              <a:t>분석 노트가 수치 낭독만 하고 실무 함의 없음 ("~로 분류되었다, ~</a:t>
            </a:r>
            <a:r>
              <a:rPr lang="ko-KR" altLang="ko-KR" dirty="0" err="1"/>
              <a:t>를</a:t>
            </a:r>
            <a:r>
              <a:rPr lang="ko-KR" altLang="ko-KR" dirty="0"/>
              <a:t> 유지하고 있다")</a:t>
            </a:r>
          </a:p>
          <a:p>
            <a:pPr rtl="0"/>
            <a:r>
              <a:rPr lang="ko-KR" altLang="ko-KR" dirty="0"/>
              <a:t>강의 멘트: </a:t>
            </a:r>
            <a:r>
              <a:rPr lang="ko-KR" altLang="ko-KR" i="1" dirty="0"/>
              <a:t>"90%는 왔습니다. 그런데 이 마지막 10% — 재계산, 시각 검증, 반복 수정 — 을 사람이 매번 하실 건가요? 그걸 시스템으로 만든 게 </a:t>
            </a:r>
            <a:r>
              <a:rPr lang="ko-KR" altLang="ko-KR" i="1" dirty="0" err="1"/>
              <a:t>하네스입니다</a:t>
            </a:r>
            <a:r>
              <a:rPr lang="ko-KR" altLang="ko-KR" i="1" dirty="0"/>
              <a:t>. 그 결과가 지금 보시는 </a:t>
            </a:r>
            <a:r>
              <a:rPr lang="ko-KR" altLang="ko-KR" i="1" dirty="0" err="1"/>
              <a:t>완성본이고요</a:t>
            </a:r>
            <a:r>
              <a:rPr lang="ko-KR" altLang="ko-KR" i="1" dirty="0"/>
              <a:t>."</a:t>
            </a:r>
            <a:endParaRPr lang="ko-KR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1E967-42F6-01F0-B377-C7B07CF14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2974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01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347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712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요약과 마무리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9015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102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142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937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 설명 장표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0421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요약과 마무리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10728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요약과 마무리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310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요약과 마무리 인사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7.png"/><Relationship Id="rId4" Type="http://schemas.openxmlformats.org/officeDocument/2006/relationships/image" Target="../media/image44.pn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68500" y="68580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476500" y="0"/>
                </a:moveTo>
                <a:lnTo>
                  <a:pt x="2872740" y="0"/>
                </a:lnTo>
                <a:arcTo wR="2080260" hR="2080260" stAng="16200000" swAng="5400000"/>
                <a:lnTo>
                  <a:pt x="4953000" y="2476500"/>
                </a:lnTo>
                <a:arcTo wR="2476500" hR="2476500" stAng="0" swAng="5400000"/>
                <a:lnTo>
                  <a:pt x="2228850" y="4953000"/>
                </a:lnTo>
                <a:arcTo wR="2228850" hR="2228850" stAng="5400000" swAng="5400000"/>
                <a:lnTo>
                  <a:pt x="0" y="2476500"/>
                </a:lnTo>
                <a:arcTo wR="2476500" hR="2476500" stAng="10800000" swAng="5400000"/>
                <a:close/>
              </a:path>
            </a:pathLst>
          </a:custGeom>
          <a:solidFill>
            <a:srgbClr val="E8620D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3335000" y="8572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1114425" y="0"/>
                </a:moveTo>
                <a:lnTo>
                  <a:pt x="1238250" y="0"/>
                </a:lnTo>
                <a:arcTo wR="1238250" hR="1238250" stAng="16200000" swAng="5400000"/>
                <a:lnTo>
                  <a:pt x="2476500" y="1287780"/>
                </a:lnTo>
                <a:arcTo wR="1188720" hR="1188720" stAng="0" swAng="5400000"/>
                <a:lnTo>
                  <a:pt x="1238250" y="2476500"/>
                </a:lnTo>
                <a:arcTo wR="1238250" hR="1238250" stAng="5400000" swAng="5400000"/>
                <a:lnTo>
                  <a:pt x="0" y="1114425"/>
                </a:lnTo>
                <a:arcTo wR="1114425" hR="1114425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3365988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38250" y="876300"/>
            <a:ext cx="29849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2025" b="1" kern="0" spc="203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교육 </a:t>
            </a:r>
            <a:r>
              <a:rPr lang="en-US" altLang="ko-KR" sz="2025" b="1" kern="0" spc="203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</a:t>
            </a:r>
            <a:r>
              <a:rPr lang="en-US" altLang="ko-KR" sz="2025" b="1" kern="0" spc="203" dirty="0" err="1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076450"/>
            <a:ext cx="34051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502568" y="2147159"/>
            <a:ext cx="61712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000" b="1" kern="0" spc="563" dirty="0" err="1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</a:rPr>
              <a:t>학교알리미</a:t>
            </a:r>
            <a:r>
              <a:rPr lang="en-US" altLang="ko-KR" sz="2000" b="1" kern="0" spc="563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</a:rPr>
              <a:t>, NEIS</a:t>
            </a:r>
            <a:r>
              <a:rPr lang="ko-KR" altLang="en-US" sz="2000" b="1" kern="0" spc="563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2000" b="1" kern="0" spc="563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</a:rPr>
              <a:t>API + Claude </a:t>
            </a:r>
            <a:r>
              <a:rPr lang="ko-KR" altLang="en-US" sz="2000" b="1" kern="0" spc="563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13919" y="2076449"/>
            <a:ext cx="340519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47750" y="2962275"/>
            <a:ext cx="16678275" cy="3238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250" b="1" kern="0" spc="-225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1250" b="1" kern="0" spc="-225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</a:t>
            </a:r>
            <a:r>
              <a:rPr lang="en-US" sz="11250" b="1" kern="0" spc="-225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0" b="1" kern="0" spc="-225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</a:t>
            </a:r>
            <a:endParaRPr lang="en-US" altLang="ko-KR" sz="11250" b="1" kern="0" spc="-225" dirty="0">
              <a:solidFill>
                <a:srgbClr val="1C1712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95000"/>
              </a:lnSpc>
              <a:buNone/>
            </a:pPr>
            <a:r>
              <a:rPr lang="ko-KR" altLang="en-US" sz="11250" b="1" kern="0" spc="-225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동네 </a:t>
            </a:r>
            <a:r>
              <a:rPr lang="ko-KR" altLang="en-US" sz="11250" b="1" kern="0" spc="-225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분석 </a:t>
            </a:r>
            <a:r>
              <a:rPr lang="ko-KR" altLang="en-US" sz="11250" b="1" kern="0" spc="-225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</a:t>
            </a:r>
            <a:endParaRPr lang="en-US" sz="11250" dirty="0"/>
          </a:p>
        </p:txBody>
      </p:sp>
      <p:sp>
        <p:nvSpPr>
          <p:cNvPr id="13" name="Shape 11"/>
          <p:cNvSpPr/>
          <p:nvPr/>
        </p:nvSpPr>
        <p:spPr>
          <a:xfrm>
            <a:off x="1047749" y="6581774"/>
            <a:ext cx="11589727" cy="45719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23950" y="6867525"/>
            <a:ext cx="1151352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ko-KR" altLang="en-US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학원 내부 내신 분석</a:t>
            </a:r>
            <a:r>
              <a:rPr lang="en-US" altLang="ko-KR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입시 설명회 자료</a:t>
            </a:r>
            <a:r>
              <a:rPr lang="en-US" altLang="ko-KR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학부모님 선물용</a:t>
            </a:r>
            <a:r>
              <a:rPr lang="en-US" altLang="ko-KR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– </a:t>
            </a:r>
            <a:r>
              <a:rPr lang="ko-KR" altLang="en-US" sz="2700" b="1" dirty="0" err="1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무엇으로든</a:t>
            </a:r>
            <a:r>
              <a:rPr lang="ko-KR" altLang="en-US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활용하세요</a:t>
            </a:r>
            <a:r>
              <a:rPr lang="en-US" altLang="ko-KR" sz="27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47750" y="8382000"/>
            <a:ext cx="3158282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419225" y="8677275"/>
            <a:ext cx="552450" cy="5524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81125" y="86772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</a:t>
            </a:r>
            <a:r>
              <a:rPr lang="ko-KR" alt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00275" y="8601075"/>
            <a:ext cx="17977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이세준 강사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200275" y="9001125"/>
            <a:ext cx="17977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 공학 박사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2732" y="8743950"/>
            <a:ext cx="25032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14753" y="7353300"/>
            <a:ext cx="16159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2026. 08. 16</a:t>
            </a:r>
            <a:endParaRPr lang="en-US" sz="19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04CC0674-F6C3-4190-B79C-C33285D57E5A}"/>
              </a:ext>
            </a:extLst>
          </p:cNvPr>
          <p:cNvSpPr/>
          <p:nvPr/>
        </p:nvSpPr>
        <p:spPr>
          <a:xfrm>
            <a:off x="1047750" y="7855268"/>
            <a:ext cx="11589727" cy="45719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927E2548-5187-4D11-8BDE-AE7C8573BB26}"/>
              </a:ext>
            </a:extLst>
          </p:cNvPr>
          <p:cNvSpPr/>
          <p:nvPr/>
        </p:nvSpPr>
        <p:spPr>
          <a:xfrm>
            <a:off x="4945483" y="8382000"/>
            <a:ext cx="3844271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8535E1C2-AE4F-48C0-9E23-79706DDCA3C9}"/>
              </a:ext>
            </a:extLst>
          </p:cNvPr>
          <p:cNvSpPr/>
          <p:nvPr/>
        </p:nvSpPr>
        <p:spPr>
          <a:xfrm>
            <a:off x="5316959" y="8677275"/>
            <a:ext cx="552450" cy="5524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5EDD836D-EDBF-408A-B3F6-389EB9B5D02D}"/>
              </a:ext>
            </a:extLst>
          </p:cNvPr>
          <p:cNvSpPr/>
          <p:nvPr/>
        </p:nvSpPr>
        <p:spPr>
          <a:xfrm>
            <a:off x="5278859" y="867727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</a:t>
            </a:r>
            <a:r>
              <a:rPr lang="ko-KR" alt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</a:t>
            </a:r>
            <a:endParaRPr lang="en-US" sz="195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015B2A34-6D9A-4297-B9D3-2253CB3802F1}"/>
              </a:ext>
            </a:extLst>
          </p:cNvPr>
          <p:cNvSpPr/>
          <p:nvPr/>
        </p:nvSpPr>
        <p:spPr>
          <a:xfrm>
            <a:off x="6098009" y="8601075"/>
            <a:ext cx="17977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1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허준석 강사</a:t>
            </a:r>
            <a:endParaRPr lang="en-US" sz="21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9FBD3B9-6CCE-4FF1-864B-98615EE5D542}"/>
              </a:ext>
            </a:extLst>
          </p:cNvPr>
          <p:cNvSpPr/>
          <p:nvPr/>
        </p:nvSpPr>
        <p:spPr>
          <a:xfrm>
            <a:off x="6098008" y="9001125"/>
            <a:ext cx="265326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 의대생</a:t>
            </a:r>
            <a:r>
              <a:rPr lang="en-US" altLang="ko-KR" sz="1600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altLang="ko-KR" sz="1600" dirty="0" err="1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</a:t>
            </a:r>
            <a:r>
              <a:rPr lang="en-US" altLang="ko-KR" sz="1600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00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</a:t>
            </a:r>
            <a:endParaRPr lang="en-US" sz="16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A6381D-4F95-42F5-A235-6FC4C12854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39" t="24160" r="17870" b="38796"/>
          <a:stretch/>
        </p:blipFill>
        <p:spPr>
          <a:xfrm>
            <a:off x="1231845" y="8514121"/>
            <a:ext cx="929953" cy="87875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E83B983-CF0E-4B5A-B17A-E66E4ADA3F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63" t="2586" r="50999" b="71206"/>
          <a:stretch/>
        </p:blipFill>
        <p:spPr>
          <a:xfrm>
            <a:off x="5126608" y="8518414"/>
            <a:ext cx="929953" cy="8721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47750" y="762000"/>
            <a:ext cx="3365988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38250" y="876300"/>
            <a:ext cx="298498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해볼 것은</a:t>
            </a:r>
            <a:r>
              <a:rPr kumimoji="0" lang="en-US" altLang="ko-KR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CFCFBFE-FAEA-4A15-A619-3F670D912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1801550"/>
            <a:ext cx="8121398" cy="521270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B1CCC79-3085-469F-AC93-06904D75F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304" y="4311570"/>
            <a:ext cx="8187147" cy="525490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64934C7-C5D1-4638-981C-0797D85A7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7240868"/>
            <a:ext cx="7105650" cy="8286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DC55528-2DCD-4771-9B9C-D942C01E62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50" y="8165571"/>
            <a:ext cx="6643627" cy="63975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BED7C7E-E699-4521-AB41-D7CF2B1309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8901356"/>
            <a:ext cx="6076950" cy="6572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FFF7241-441B-4625-89BB-919AABB52A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783" y="1801550"/>
            <a:ext cx="7433359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1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33350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1809750" y="0"/>
                </a:moveTo>
                <a:lnTo>
                  <a:pt x="1882140" y="0"/>
                </a:lnTo>
                <a:arcTo wR="1737360" hR="1737360" stAng="16200000" swAng="5400000"/>
                <a:lnTo>
                  <a:pt x="3619500" y="1809750"/>
                </a:lnTo>
                <a:arcTo wR="1809750" hR="1809750" stAng="0" swAng="5400000"/>
                <a:lnTo>
                  <a:pt x="1628775" y="3619500"/>
                </a:lnTo>
                <a:arcTo wR="1628775" hR="1628775" stAng="5400000" swAng="5400000"/>
                <a:lnTo>
                  <a:pt x="0" y="1809750"/>
                </a:lnTo>
                <a:arcTo wR="1809750" hR="1809750" stAng="10800000" swAng="5400000"/>
                <a:close/>
              </a:path>
            </a:pathLst>
          </a:custGeom>
          <a:solidFill>
            <a:srgbClr val="F0A06A">
              <a:alpha val="5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47750" y="762000"/>
            <a:ext cx="2185839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352550" y="876300"/>
            <a:ext cx="16524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03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47750" y="1781175"/>
            <a:ext cx="4908545" cy="1362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</a:t>
            </a:r>
            <a:r>
              <a:rPr lang="en-US" sz="72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776764" y="2138363"/>
            <a:ext cx="41820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32956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47750" y="3752850"/>
            <a:ext cx="7943850" cy="2733675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495425" y="4719638"/>
            <a:ext cx="800100" cy="800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57325" y="4719638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0325" y="4648200"/>
            <a:ext cx="492589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배우지 않으면 못하나요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600325" y="5248275"/>
            <a:ext cx="6332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875" dirty="0" err="1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</a:t>
            </a:r>
            <a:r>
              <a:rPr 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ko-KR" altLang="en-US" sz="1875" dirty="0" err="1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하네스의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이해 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96400" y="3752850"/>
            <a:ext cx="7943850" cy="2733675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44075" y="4719638"/>
            <a:ext cx="800100" cy="800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05975" y="4719638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848975" y="4648200"/>
            <a:ext cx="2644287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란 </a:t>
            </a:r>
            <a:r>
              <a:rPr lang="ko-KR" altLang="en-US" sz="2850" b="1" dirty="0" err="1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뭔가요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848975" y="5248275"/>
            <a:ext cx="38634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</a:t>
            </a:r>
            <a:r>
              <a:rPr lang="ko-KR" altLang="en-US" sz="1875" dirty="0" err="1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알리미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·NEIS API 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알아보기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47750" y="6791325"/>
            <a:ext cx="7943850" cy="2733675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495425" y="7758113"/>
            <a:ext cx="800100" cy="800100"/>
          </a:xfrm>
          <a:prstGeom prst="ellipse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57325" y="7758113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600325" y="7686675"/>
            <a:ext cx="523655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8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이렇게 쉽게 보고서가</a:t>
            </a:r>
            <a:r>
              <a:rPr lang="en-US" altLang="ko-KR" sz="28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!</a:t>
            </a:r>
            <a:endParaRPr lang="en-US" sz="2850" dirty="0">
              <a:solidFill>
                <a:srgbClr val="E8620D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00325" y="8286750"/>
            <a:ext cx="205457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직접 해보기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296400" y="6791325"/>
            <a:ext cx="7943850" cy="2733675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744075" y="7758113"/>
            <a:ext cx="800100" cy="800100"/>
          </a:xfrm>
          <a:prstGeom prst="ellipse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705975" y="7758113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848975" y="7686675"/>
            <a:ext cx="46372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8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원하는 것만 쏙쏙</a:t>
            </a:r>
            <a:r>
              <a:rPr lang="en-US" altLang="ko-KR" sz="285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2850" dirty="0">
              <a:solidFill>
                <a:srgbClr val="E8620D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848974" y="8286750"/>
            <a:ext cx="42093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커스터마이징</a:t>
            </a:r>
            <a:r>
              <a:rPr lang="en-US" altLang="ko-KR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r>
              <a:rPr lang="ko-KR" altLang="en-US" sz="1875" dirty="0">
                <a:solidFill>
                  <a:srgbClr val="6B5F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입시 결과 보너스 트랙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4295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2286000" y="0"/>
                </a:moveTo>
                <a:lnTo>
                  <a:pt x="2377440" y="0"/>
                </a:lnTo>
                <a:arcTo wR="2194560" hR="2194560" stAng="16200000" swAng="5400000"/>
                <a:lnTo>
                  <a:pt x="4572000" y="2514600"/>
                </a:lnTo>
                <a:arcTo wR="2057400" hR="2057400" stAng="0" swAng="5400000"/>
                <a:lnTo>
                  <a:pt x="2286000" y="4572000"/>
                </a:lnTo>
                <a:arcTo wR="2286000" hR="2286000" stAng="5400000" swAng="5400000"/>
                <a:lnTo>
                  <a:pt x="0" y="2286000"/>
                </a:lnTo>
                <a:arcTo wR="2286000" hR="2286000" stAng="10800000" swAng="5400000"/>
                <a:close/>
              </a:path>
            </a:pathLst>
          </a:custGeom>
          <a:solidFill>
            <a:srgbClr val="E8620D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8953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097280" y="0"/>
                </a:moveTo>
                <a:lnTo>
                  <a:pt x="1143000" y="0"/>
                </a:lnTo>
                <a:arcTo wR="1143000" hR="1143000" stAng="16200000" swAng="5400000"/>
                <a:lnTo>
                  <a:pt x="2286000" y="1143000"/>
                </a:lnTo>
                <a:arcTo wR="1143000" hR="1143000" stAng="0" swAng="5400000"/>
                <a:lnTo>
                  <a:pt x="1028700" y="2286000"/>
                </a:lnTo>
                <a:arcTo wR="1028700" hR="1028700" stAng="5400000" swAng="5400000"/>
                <a:lnTo>
                  <a:pt x="0" y="1097280"/>
                </a:lnTo>
                <a:arcTo wR="1097280" hR="1097280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1992511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52550" y="876300"/>
            <a:ext cx="1459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 </a:t>
            </a:r>
            <a:r>
              <a:rPr kumimoji="0" lang="en-US" altLang="ko-KR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49" y="2771775"/>
            <a:ext cx="1408369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90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배우지 않으면 못하나요</a:t>
            </a:r>
            <a:r>
              <a:rPr lang="en-US" altLang="ko-KR" sz="90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886325"/>
            <a:ext cx="12001500" cy="264795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1625" y="53340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3525" y="5334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00275" y="5334000"/>
            <a:ext cx="54442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kumimoji="0" lang="en-US" altLang="ko-KR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설치합니다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71625" y="600075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33525" y="6000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00274" y="6000750"/>
            <a:ext cx="86723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kumimoji="0" lang="ko-KR" altLang="en-US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하네스의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기초 개념을 </a:t>
            </a:r>
            <a:r>
              <a:rPr kumimoji="0" lang="ko-KR" altLang="en-US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이해해야하는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이유를 설명합니다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571625" y="66675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533525" y="66675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00275" y="6667500"/>
            <a:ext cx="9160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이해했을 때 원장님의 교육 도메인 지식이 가지는 파괴력을 이해합니다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8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20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46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Claude</a:t>
            </a:r>
            <a:r>
              <a:rPr lang="ko-KR" altLang="en-US" sz="46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 가입하기 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09700" y="8772525"/>
            <a:ext cx="9136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273"/>
              </a:lnSpc>
              <a:buNone/>
            </a:pPr>
            <a:r>
              <a:rPr lang="en-US" sz="2250" b="1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슬라이드에서 기억할 한 문장을 적습니다</a:t>
            </a:r>
            <a:endParaRPr lang="en-US" sz="225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00FE6A5-9161-47CF-B1ED-1DB3F321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3826337"/>
            <a:ext cx="4841325" cy="2036604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B66741D8-26D2-4CEE-8101-95A6775F673B}"/>
              </a:ext>
            </a:extLst>
          </p:cNvPr>
          <p:cNvSpPr/>
          <p:nvPr/>
        </p:nvSpPr>
        <p:spPr>
          <a:xfrm>
            <a:off x="1047750" y="3236329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검색창에 </a:t>
            </a:r>
            <a:r>
              <a:rPr lang="en-US" altLang="ko-KR" sz="2850" b="1" dirty="0" err="1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lang="en-US" sz="285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6AF85DE8-248A-45A9-B28D-810F30F49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457" y="3826863"/>
            <a:ext cx="4457700" cy="2036604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179701EE-3D08-4ED1-BF98-030B76F453C8}"/>
              </a:ext>
            </a:extLst>
          </p:cNvPr>
          <p:cNvSpPr/>
          <p:nvPr/>
        </p:nvSpPr>
        <p:spPr>
          <a:xfrm>
            <a:off x="6260457" y="3218600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클릭</a:t>
            </a:r>
            <a:endParaRPr lang="en-US" sz="2850" dirty="0"/>
          </a:p>
        </p:txBody>
      </p:sp>
      <p:pic>
        <p:nvPicPr>
          <p:cNvPr id="1026" name="Picture 2" descr="왼쪽 클릭 - 무료 손과 몸짓개 아이콘">
            <a:extLst>
              <a:ext uri="{FF2B5EF4-FFF2-40B4-BE49-F238E27FC236}">
                <a16:creationId xmlns:a16="http://schemas.microsoft.com/office/drawing/2014/main" id="{97C00A28-BF03-431F-8B97-4BCC2308C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871" y="3989806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16">
            <a:extLst>
              <a:ext uri="{FF2B5EF4-FFF2-40B4-BE49-F238E27FC236}">
                <a16:creationId xmlns:a16="http://schemas.microsoft.com/office/drawing/2014/main" id="{BFF2DA00-0D97-4219-8F3E-85AB47C6ABAC}"/>
              </a:ext>
            </a:extLst>
          </p:cNvPr>
          <p:cNvSpPr/>
          <p:nvPr/>
        </p:nvSpPr>
        <p:spPr>
          <a:xfrm>
            <a:off x="11146662" y="3236328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구글로 회원 가입</a:t>
            </a:r>
            <a:endParaRPr lang="en-US" sz="285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F08038B-70C7-4EEB-A581-6B4AC8B37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6662" y="3832309"/>
            <a:ext cx="3454801" cy="203599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1F21615-0A6B-4C21-B9CE-3E71539EDC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7088713"/>
            <a:ext cx="4841325" cy="1999129"/>
          </a:xfrm>
          <a:prstGeom prst="rect">
            <a:avLst/>
          </a:prstGeom>
        </p:spPr>
      </p:pic>
      <p:sp>
        <p:nvSpPr>
          <p:cNvPr id="35" name="Text 16">
            <a:extLst>
              <a:ext uri="{FF2B5EF4-FFF2-40B4-BE49-F238E27FC236}">
                <a16:creationId xmlns:a16="http://schemas.microsoft.com/office/drawing/2014/main" id="{2FA754DE-C993-4A2D-98AB-00B2EF904BDF}"/>
              </a:ext>
            </a:extLst>
          </p:cNvPr>
          <p:cNvSpPr/>
          <p:nvPr/>
        </p:nvSpPr>
        <p:spPr>
          <a:xfrm>
            <a:off x="1047749" y="6524089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사용</a:t>
            </a:r>
            <a:endParaRPr lang="en-US" sz="28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2ACDDD2-FEED-4E7D-A251-1067C0EA2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52" y="7086064"/>
            <a:ext cx="3992518" cy="1994909"/>
          </a:xfrm>
          <a:prstGeom prst="rect">
            <a:avLst/>
          </a:prstGeom>
        </p:spPr>
      </p:pic>
      <p:sp>
        <p:nvSpPr>
          <p:cNvPr id="38" name="Text 16">
            <a:extLst>
              <a:ext uri="{FF2B5EF4-FFF2-40B4-BE49-F238E27FC236}">
                <a16:creationId xmlns:a16="http://schemas.microsoft.com/office/drawing/2014/main" id="{EE875040-AA86-4BEC-AA83-1921CFD90A92}"/>
              </a:ext>
            </a:extLst>
          </p:cNvPr>
          <p:cNvSpPr/>
          <p:nvPr/>
        </p:nvSpPr>
        <p:spPr>
          <a:xfrm>
            <a:off x="6262653" y="6526738"/>
            <a:ext cx="424537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</a:t>
            </a: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플랜 사용</a:t>
            </a:r>
            <a:endParaRPr lang="en-US" sz="2850" dirty="0"/>
          </a:p>
        </p:txBody>
      </p:sp>
      <p:pic>
        <p:nvPicPr>
          <p:cNvPr id="39" name="Picture 2" descr="왼쪽 클릭 - 무료 손과 몸짓개 아이콘">
            <a:extLst>
              <a:ext uri="{FF2B5EF4-FFF2-40B4-BE49-F238E27FC236}">
                <a16:creationId xmlns:a16="http://schemas.microsoft.com/office/drawing/2014/main" id="{93E654FE-B295-4BDE-827A-B43B40736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4703" y="4142206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왼쪽 클릭 - 무료 손과 몸짓개 아이콘">
            <a:extLst>
              <a:ext uri="{FF2B5EF4-FFF2-40B4-BE49-F238E27FC236}">
                <a16:creationId xmlns:a16="http://schemas.microsoft.com/office/drawing/2014/main" id="{033E910D-1487-4F4F-AE73-E4D6BF0D1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375" y="7673118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23982527-C692-40E0-A040-8DAA63B57A1D}"/>
              </a:ext>
            </a:extLst>
          </p:cNvPr>
          <p:cNvSpPr/>
          <p:nvPr/>
        </p:nvSpPr>
        <p:spPr>
          <a:xfrm>
            <a:off x="11224695" y="6524088"/>
            <a:ext cx="61489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6)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건너뛰기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이름입력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건너뛰기</a:t>
            </a:r>
            <a:endParaRPr lang="en-US" sz="285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6FA634A-F21F-49B7-910B-FD203327D2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6662" y="7088713"/>
            <a:ext cx="5564951" cy="19874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6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Collec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가입하기 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09700" y="8772525"/>
            <a:ext cx="9136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슬라이드에서 기억할 한 문장을 적습니다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66741D8-26D2-4CEE-8101-95A6775F673B}"/>
              </a:ext>
            </a:extLst>
          </p:cNvPr>
          <p:cNvSpPr/>
          <p:nvPr/>
        </p:nvSpPr>
        <p:spPr>
          <a:xfrm>
            <a:off x="1047750" y="3236329"/>
            <a:ext cx="521490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검색창에 </a:t>
            </a:r>
            <a:r>
              <a:rPr kumimoji="0" lang="en-US" altLang="ko-KR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179701EE-3D08-4ED1-BF98-030B76F453C8}"/>
              </a:ext>
            </a:extLst>
          </p:cNvPr>
          <p:cNvSpPr/>
          <p:nvPr/>
        </p:nvSpPr>
        <p:spPr>
          <a:xfrm>
            <a:off x="6525086" y="3233678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클릭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2FA754DE-C993-4A2D-98AB-00B2EF904BDF}"/>
              </a:ext>
            </a:extLst>
          </p:cNvPr>
          <p:cNvSpPr/>
          <p:nvPr/>
        </p:nvSpPr>
        <p:spPr>
          <a:xfrm>
            <a:off x="1047749" y="6524089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4) Chrome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</a:t>
            </a: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EE875040-AA86-4BEC-AA83-1921CFD90A92}"/>
              </a:ext>
            </a:extLst>
          </p:cNvPr>
          <p:cNvSpPr/>
          <p:nvPr/>
        </p:nvSpPr>
        <p:spPr>
          <a:xfrm>
            <a:off x="5368643" y="6526738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사용하기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23982527-C692-40E0-A040-8DAA63B57A1D}"/>
              </a:ext>
            </a:extLst>
          </p:cNvPr>
          <p:cNvSpPr/>
          <p:nvPr/>
        </p:nvSpPr>
        <p:spPr>
          <a:xfrm>
            <a:off x="9745434" y="6519312"/>
            <a:ext cx="432089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구글로 시작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483AC2-1025-431A-8EDA-A1FE4AC56D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3" r="5399"/>
          <a:stretch/>
        </p:blipFill>
        <p:spPr>
          <a:xfrm>
            <a:off x="1047749" y="3832309"/>
            <a:ext cx="5162308" cy="20359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26B73F-6958-498E-A2C9-86344772E5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213"/>
          <a:stretch/>
        </p:blipFill>
        <p:spPr>
          <a:xfrm>
            <a:off x="6451695" y="3832309"/>
            <a:ext cx="5094054" cy="2035992"/>
          </a:xfrm>
          <a:prstGeom prst="rect">
            <a:avLst/>
          </a:prstGeom>
        </p:spPr>
      </p:pic>
      <p:pic>
        <p:nvPicPr>
          <p:cNvPr id="39" name="Picture 2" descr="왼쪽 클릭 - 무료 손과 몸짓개 아이콘">
            <a:extLst>
              <a:ext uri="{FF2B5EF4-FFF2-40B4-BE49-F238E27FC236}">
                <a16:creationId xmlns:a16="http://schemas.microsoft.com/office/drawing/2014/main" id="{93E654FE-B295-4BDE-827A-B43B40736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3212" y="4723978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16">
            <a:extLst>
              <a:ext uri="{FF2B5EF4-FFF2-40B4-BE49-F238E27FC236}">
                <a16:creationId xmlns:a16="http://schemas.microsoft.com/office/drawing/2014/main" id="{E2D1F1F0-BFAA-449C-BFE4-2FE9A8604097}"/>
              </a:ext>
            </a:extLst>
          </p:cNvPr>
          <p:cNvSpPr/>
          <p:nvPr/>
        </p:nvSpPr>
        <p:spPr>
          <a:xfrm>
            <a:off x="11787386" y="3233677"/>
            <a:ext cx="496204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크롬에 추가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05B04C2-52F1-4952-B13C-E1F2AF793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87386" y="3832309"/>
            <a:ext cx="5452863" cy="2035992"/>
          </a:xfrm>
          <a:prstGeom prst="rect">
            <a:avLst/>
          </a:prstGeom>
        </p:spPr>
      </p:pic>
      <p:pic>
        <p:nvPicPr>
          <p:cNvPr id="36" name="Picture 2" descr="왼쪽 클릭 - 무료 손과 몸짓개 아이콘">
            <a:extLst>
              <a:ext uri="{FF2B5EF4-FFF2-40B4-BE49-F238E27FC236}">
                <a16:creationId xmlns:a16="http://schemas.microsoft.com/office/drawing/2014/main" id="{03A67D9A-3584-41A5-AE1B-9BCBC83C2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0792" y="5217832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D28AEC-F0F6-48D2-9968-883B1E31B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7088713"/>
            <a:ext cx="4068033" cy="1994909"/>
          </a:xfrm>
          <a:prstGeom prst="rect">
            <a:avLst/>
          </a:prstGeom>
        </p:spPr>
      </p:pic>
      <p:pic>
        <p:nvPicPr>
          <p:cNvPr id="42" name="Picture 2" descr="왼쪽 클릭 - 무료 손과 몸짓개 아이콘">
            <a:extLst>
              <a:ext uri="{FF2B5EF4-FFF2-40B4-BE49-F238E27FC236}">
                <a16:creationId xmlns:a16="http://schemas.microsoft.com/office/drawing/2014/main" id="{F3831EF1-505D-4E41-B259-BEC42EF4B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702" y="7988393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7BB5C8C-B65E-43E8-A572-DA6158428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643" y="7081287"/>
            <a:ext cx="4123930" cy="1994909"/>
          </a:xfrm>
          <a:prstGeom prst="rect">
            <a:avLst/>
          </a:prstGeom>
        </p:spPr>
      </p:pic>
      <p:pic>
        <p:nvPicPr>
          <p:cNvPr id="43" name="Picture 2" descr="왼쪽 클릭 - 무료 손과 몸짓개 아이콘">
            <a:extLst>
              <a:ext uri="{FF2B5EF4-FFF2-40B4-BE49-F238E27FC236}">
                <a16:creationId xmlns:a16="http://schemas.microsoft.com/office/drawing/2014/main" id="{570AFFA9-037A-4645-912C-8E603BA43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323" y="7832845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9FA62B1-6DD1-4CFE-A61C-2AA19698085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6217"/>
          <a:stretch/>
        </p:blipFill>
        <p:spPr>
          <a:xfrm>
            <a:off x="9745433" y="7073861"/>
            <a:ext cx="4381500" cy="2002335"/>
          </a:xfrm>
          <a:prstGeom prst="rect">
            <a:avLst/>
          </a:prstGeom>
        </p:spPr>
      </p:pic>
      <p:pic>
        <p:nvPicPr>
          <p:cNvPr id="44" name="Picture 2" descr="왼쪽 클릭 - 무료 손과 몸짓개 아이콘">
            <a:extLst>
              <a:ext uri="{FF2B5EF4-FFF2-40B4-BE49-F238E27FC236}">
                <a16:creationId xmlns:a16="http://schemas.microsoft.com/office/drawing/2014/main" id="{784819AC-2939-408A-B909-EC7B99F0D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4564" y="7980967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922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야 </a:t>
            </a:r>
            <a:r>
              <a:rPr kumimoji="0" lang="ko-KR" altLang="en-US" sz="46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너두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개발자 될 수 있어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! – 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개발의 역사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09700" y="8772525"/>
            <a:ext cx="91363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슬라이드에서 기억할 한 문장을 적습니다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51B2A011-A3E3-4728-8DC9-5A3BB7E854AE}"/>
              </a:ext>
            </a:extLst>
          </p:cNvPr>
          <p:cNvSpPr/>
          <p:nvPr/>
        </p:nvSpPr>
        <p:spPr>
          <a:xfrm>
            <a:off x="1047749" y="2535097"/>
            <a:ext cx="7592751" cy="7105650"/>
          </a:xfrm>
          <a:prstGeom prst="roundRect">
            <a:avLst>
              <a:gd name="adj" fmla="val 3429"/>
            </a:avLst>
          </a:prstGeom>
          <a:solidFill>
            <a:srgbClr val="ECE3D0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E8620D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7972F37E-7E32-4935-8213-39FE7CFF7966}"/>
              </a:ext>
            </a:extLst>
          </p:cNvPr>
          <p:cNvSpPr/>
          <p:nvPr/>
        </p:nvSpPr>
        <p:spPr>
          <a:xfrm>
            <a:off x="1419225" y="2354122"/>
            <a:ext cx="1756321" cy="457200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5C2AF2A3-6496-4B05-9D95-8371160E2985}"/>
              </a:ext>
            </a:extLst>
          </p:cNvPr>
          <p:cNvSpPr/>
          <p:nvPr/>
        </p:nvSpPr>
        <p:spPr>
          <a:xfrm>
            <a:off x="1684957" y="2416457"/>
            <a:ext cx="1375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과거의 개발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D79A7E8D-B244-42B9-8619-253E5490DCB1}"/>
              </a:ext>
            </a:extLst>
          </p:cNvPr>
          <p:cNvSpPr/>
          <p:nvPr/>
        </p:nvSpPr>
        <p:spPr>
          <a:xfrm>
            <a:off x="1186646" y="3108044"/>
            <a:ext cx="7308681" cy="848146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195E56D2-7E1B-4A97-B3C1-0B0FA5ECE84F}"/>
              </a:ext>
            </a:extLst>
          </p:cNvPr>
          <p:cNvSpPr/>
          <p:nvPr/>
        </p:nvSpPr>
        <p:spPr>
          <a:xfrm>
            <a:off x="1521155" y="3318013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1F471176-BBA7-4DAF-8CB9-B37C473E009E}"/>
              </a:ext>
            </a:extLst>
          </p:cNvPr>
          <p:cNvSpPr/>
          <p:nvPr/>
        </p:nvSpPr>
        <p:spPr>
          <a:xfrm>
            <a:off x="1483055" y="3294204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1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D8231F56-A9C5-4B70-9365-58DA9C6032DA}"/>
              </a:ext>
            </a:extLst>
          </p:cNvPr>
          <p:cNvSpPr/>
          <p:nvPr/>
        </p:nvSpPr>
        <p:spPr>
          <a:xfrm>
            <a:off x="2136302" y="3290033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기계어 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C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언어 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58500F2D-782D-41D8-B978-D37ED5FD686F}"/>
              </a:ext>
            </a:extLst>
          </p:cNvPr>
          <p:cNvSpPr/>
          <p:nvPr/>
        </p:nvSpPr>
        <p:spPr>
          <a:xfrm>
            <a:off x="4088254" y="3299052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기계를 직접 다루지 않으면 개발자가 아니다＂</a:t>
            </a:r>
            <a:endParaRPr kumimoji="0" lang="en-US" sz="16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772D4EB-F7BE-4EBA-B351-052CD2C7A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921" y="4137165"/>
            <a:ext cx="2698714" cy="1349357"/>
          </a:xfrm>
          <a:prstGeom prst="rect">
            <a:avLst/>
          </a:prstGeom>
        </p:spPr>
      </p:pic>
      <p:sp>
        <p:nvSpPr>
          <p:cNvPr id="46" name="Text 9">
            <a:extLst>
              <a:ext uri="{FF2B5EF4-FFF2-40B4-BE49-F238E27FC236}">
                <a16:creationId xmlns:a16="http://schemas.microsoft.com/office/drawing/2014/main" id="{A4F2F7F3-D722-44DF-BE66-27A4C21ED073}"/>
              </a:ext>
            </a:extLst>
          </p:cNvPr>
          <p:cNvSpPr/>
          <p:nvPr/>
        </p:nvSpPr>
        <p:spPr>
          <a:xfrm>
            <a:off x="4610553" y="4576551"/>
            <a:ext cx="38897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0554FB1-C30E-444C-98E5-B88068398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511" y="4506952"/>
            <a:ext cx="2914650" cy="619125"/>
          </a:xfrm>
          <a:prstGeom prst="rect">
            <a:avLst/>
          </a:prstGeom>
        </p:spPr>
      </p:pic>
      <p:sp>
        <p:nvSpPr>
          <p:cNvPr id="47" name="Shape 6">
            <a:extLst>
              <a:ext uri="{FF2B5EF4-FFF2-40B4-BE49-F238E27FC236}">
                <a16:creationId xmlns:a16="http://schemas.microsoft.com/office/drawing/2014/main" id="{3D936423-C5B7-44A6-9A1B-83AEAB955D23}"/>
              </a:ext>
            </a:extLst>
          </p:cNvPr>
          <p:cNvSpPr/>
          <p:nvPr/>
        </p:nvSpPr>
        <p:spPr>
          <a:xfrm>
            <a:off x="1186646" y="5625539"/>
            <a:ext cx="7308681" cy="848146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20B737EA-CAAF-454C-BC11-39FB2744FE31}"/>
              </a:ext>
            </a:extLst>
          </p:cNvPr>
          <p:cNvSpPr/>
          <p:nvPr/>
        </p:nvSpPr>
        <p:spPr>
          <a:xfrm>
            <a:off x="1521155" y="5835508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51ED466-FD74-4601-BC3C-26821C571756}"/>
              </a:ext>
            </a:extLst>
          </p:cNvPr>
          <p:cNvSpPr/>
          <p:nvPr/>
        </p:nvSpPr>
        <p:spPr>
          <a:xfrm>
            <a:off x="1483055" y="5811699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2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C6686F76-DE83-454A-B508-A5A33E78F7F3}"/>
              </a:ext>
            </a:extLst>
          </p:cNvPr>
          <p:cNvSpPr/>
          <p:nvPr/>
        </p:nvSpPr>
        <p:spPr>
          <a:xfrm>
            <a:off x="2136302" y="5807528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Java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 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F18B0363-9E0B-4218-9A36-261958C4763B}"/>
              </a:ext>
            </a:extLst>
          </p:cNvPr>
          <p:cNvSpPr/>
          <p:nvPr/>
        </p:nvSpPr>
        <p:spPr>
          <a:xfrm>
            <a:off x="4088254" y="5816547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직접 관리 </a:t>
            </a:r>
            <a:r>
              <a:rPr kumimoji="0" lang="ko-KR" altLang="en-US" sz="1600" i="1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안하면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개발이 아니다＂</a:t>
            </a:r>
            <a:endParaRPr kumimoji="0" lang="en-US" sz="16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8FF7094-98A7-495F-9B8F-8F41B6AE89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6657"/>
          <a:stretch/>
        </p:blipFill>
        <p:spPr>
          <a:xfrm>
            <a:off x="1186646" y="6654660"/>
            <a:ext cx="3222989" cy="1076325"/>
          </a:xfrm>
          <a:prstGeom prst="rect">
            <a:avLst/>
          </a:prstGeom>
        </p:spPr>
      </p:pic>
      <p:sp>
        <p:nvSpPr>
          <p:cNvPr id="52" name="Text 9">
            <a:extLst>
              <a:ext uri="{FF2B5EF4-FFF2-40B4-BE49-F238E27FC236}">
                <a16:creationId xmlns:a16="http://schemas.microsoft.com/office/drawing/2014/main" id="{A651CB19-D922-4BBE-8D10-9B893451AE11}"/>
              </a:ext>
            </a:extLst>
          </p:cNvPr>
          <p:cNvSpPr/>
          <p:nvPr/>
        </p:nvSpPr>
        <p:spPr>
          <a:xfrm>
            <a:off x="4610553" y="6959757"/>
            <a:ext cx="38897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5C3C7CD-E05A-42C4-BE8A-C5FBAED3E4B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006"/>
          <a:stretch/>
        </p:blipFill>
        <p:spPr>
          <a:xfrm>
            <a:off x="5110278" y="6654660"/>
            <a:ext cx="3385050" cy="1076325"/>
          </a:xfrm>
          <a:prstGeom prst="rect">
            <a:avLst/>
          </a:prstGeom>
        </p:spPr>
      </p:pic>
      <p:sp>
        <p:nvSpPr>
          <p:cNvPr id="54" name="Shape 6">
            <a:extLst>
              <a:ext uri="{FF2B5EF4-FFF2-40B4-BE49-F238E27FC236}">
                <a16:creationId xmlns:a16="http://schemas.microsoft.com/office/drawing/2014/main" id="{20A7BFA3-0349-46B8-9CC4-ADC8C78E9612}"/>
              </a:ext>
            </a:extLst>
          </p:cNvPr>
          <p:cNvSpPr/>
          <p:nvPr/>
        </p:nvSpPr>
        <p:spPr>
          <a:xfrm>
            <a:off x="1186646" y="7894778"/>
            <a:ext cx="7308681" cy="848146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53CE9E27-6C68-454B-ACC1-F48DEA39FC1D}"/>
              </a:ext>
            </a:extLst>
          </p:cNvPr>
          <p:cNvSpPr/>
          <p:nvPr/>
        </p:nvSpPr>
        <p:spPr>
          <a:xfrm>
            <a:off x="1521155" y="8104747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01B13513-8BE0-4B12-B5BA-5751FF3267A4}"/>
              </a:ext>
            </a:extLst>
          </p:cNvPr>
          <p:cNvSpPr/>
          <p:nvPr/>
        </p:nvSpPr>
        <p:spPr>
          <a:xfrm>
            <a:off x="1483055" y="808093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A9F1AE0F-52F7-4333-A1A0-3B1C87930C01}"/>
              </a:ext>
            </a:extLst>
          </p:cNvPr>
          <p:cNvSpPr/>
          <p:nvPr/>
        </p:nvSpPr>
        <p:spPr>
          <a:xfrm>
            <a:off x="2136302" y="8076767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Python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 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E3F9659A-6216-4454-B6DD-47A0EAE76B29}"/>
              </a:ext>
            </a:extLst>
          </p:cNvPr>
          <p:cNvSpPr/>
          <p:nvPr/>
        </p:nvSpPr>
        <p:spPr>
          <a:xfrm>
            <a:off x="4088254" y="8085786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장난감 언어 아니야</a:t>
            </a:r>
            <a:r>
              <a:rPr kumimoji="0" lang="en-US" altLang="ko-KR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＂</a:t>
            </a:r>
            <a:endParaRPr kumimoji="0" lang="en-US" sz="16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FD51CF2-4293-4708-B6EE-0B6B16749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053" y="8877510"/>
            <a:ext cx="2847975" cy="628650"/>
          </a:xfrm>
          <a:prstGeom prst="rect">
            <a:avLst/>
          </a:prstGeom>
        </p:spPr>
      </p:pic>
      <p:sp>
        <p:nvSpPr>
          <p:cNvPr id="59" name="Shape 18">
            <a:extLst>
              <a:ext uri="{FF2B5EF4-FFF2-40B4-BE49-F238E27FC236}">
                <a16:creationId xmlns:a16="http://schemas.microsoft.com/office/drawing/2014/main" id="{013A1E00-0EE7-44FA-A3F0-B9068DAAFC6B}"/>
              </a:ext>
            </a:extLst>
          </p:cNvPr>
          <p:cNvSpPr/>
          <p:nvPr/>
        </p:nvSpPr>
        <p:spPr>
          <a:xfrm>
            <a:off x="9647502" y="2529432"/>
            <a:ext cx="7592751" cy="7105650"/>
          </a:xfrm>
          <a:prstGeom prst="roundRect">
            <a:avLst>
              <a:gd name="adj" fmla="val 3429"/>
            </a:avLst>
          </a:prstGeom>
          <a:solidFill>
            <a:srgbClr val="ECE3D0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E8620D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59DD236E-226C-4685-8847-89EA5208FC6C}"/>
              </a:ext>
            </a:extLst>
          </p:cNvPr>
          <p:cNvSpPr/>
          <p:nvPr/>
        </p:nvSpPr>
        <p:spPr>
          <a:xfrm>
            <a:off x="10018978" y="2348457"/>
            <a:ext cx="1756321" cy="457200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AB5E2E5D-9677-4DAF-A949-F141857B2F6A}"/>
              </a:ext>
            </a:extLst>
          </p:cNvPr>
          <p:cNvSpPr/>
          <p:nvPr/>
        </p:nvSpPr>
        <p:spPr>
          <a:xfrm>
            <a:off x="10284710" y="2410792"/>
            <a:ext cx="13753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개발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1733924A-A245-4B64-A69F-F04A49DF0739}"/>
              </a:ext>
            </a:extLst>
          </p:cNvPr>
          <p:cNvSpPr/>
          <p:nvPr/>
        </p:nvSpPr>
        <p:spPr>
          <a:xfrm>
            <a:off x="9786399" y="3102379"/>
            <a:ext cx="7308681" cy="848146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7BCDDCE1-60B0-4C76-A725-174C753387E6}"/>
              </a:ext>
            </a:extLst>
          </p:cNvPr>
          <p:cNvSpPr/>
          <p:nvPr/>
        </p:nvSpPr>
        <p:spPr>
          <a:xfrm>
            <a:off x="10120908" y="3312348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C58C1592-DACB-4C64-B09E-330D0D15C966}"/>
              </a:ext>
            </a:extLst>
          </p:cNvPr>
          <p:cNvSpPr/>
          <p:nvPr/>
        </p:nvSpPr>
        <p:spPr>
          <a:xfrm>
            <a:off x="10082808" y="3288539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!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A757B74E-AA79-436C-B0CB-1E7C6D8964C4}"/>
              </a:ext>
            </a:extLst>
          </p:cNvPr>
          <p:cNvSpPr/>
          <p:nvPr/>
        </p:nvSpPr>
        <p:spPr>
          <a:xfrm>
            <a:off x="10736055" y="3284368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kumimoji="0" lang="ko-KR" altLang="en-US" sz="2175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바이브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 코딩 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9">
            <a:extLst>
              <a:ext uri="{FF2B5EF4-FFF2-40B4-BE49-F238E27FC236}">
                <a16:creationId xmlns:a16="http://schemas.microsoft.com/office/drawing/2014/main" id="{151183CB-B7E8-4317-8762-3E4F5A457D41}"/>
              </a:ext>
            </a:extLst>
          </p:cNvPr>
          <p:cNvSpPr/>
          <p:nvPr/>
        </p:nvSpPr>
        <p:spPr>
          <a:xfrm>
            <a:off x="12688007" y="3293387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</a:t>
            </a:r>
            <a:r>
              <a:rPr kumimoji="0" lang="ko-KR" altLang="en-US" sz="160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이건 진짜 개발이 아니야＂</a:t>
            </a:r>
            <a:endParaRPr kumimoji="0" lang="en-US" sz="1600" i="1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F76EF9B-9532-4C95-BFBA-E882CAF165DB}"/>
              </a:ext>
            </a:extLst>
          </p:cNvPr>
          <p:cNvSpPr/>
          <p:nvPr/>
        </p:nvSpPr>
        <p:spPr>
          <a:xfrm>
            <a:off x="8821668" y="5655681"/>
            <a:ext cx="756386" cy="853151"/>
          </a:xfrm>
          <a:prstGeom prst="rightArrow">
            <a:avLst/>
          </a:prstGeom>
          <a:solidFill>
            <a:srgbClr val="E862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30DA53E-8A37-4A3C-984B-B85BF41FD99E}"/>
              </a:ext>
            </a:extLst>
          </p:cNvPr>
          <p:cNvCxnSpPr/>
          <p:nvPr/>
        </p:nvCxnSpPr>
        <p:spPr>
          <a:xfrm>
            <a:off x="13599283" y="3517433"/>
            <a:ext cx="2385355" cy="0"/>
          </a:xfrm>
          <a:prstGeom prst="line">
            <a:avLst/>
          </a:prstGeom>
          <a:ln w="28575">
            <a:solidFill>
              <a:srgbClr val="E862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E4BCC4F6-C673-48AE-9509-6B938E5020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2314" y="4164052"/>
            <a:ext cx="5276850" cy="685800"/>
          </a:xfrm>
          <a:prstGeom prst="rect">
            <a:avLst/>
          </a:prstGeom>
        </p:spPr>
      </p:pic>
      <p:sp>
        <p:nvSpPr>
          <p:cNvPr id="84" name="Shape 14">
            <a:extLst>
              <a:ext uri="{FF2B5EF4-FFF2-40B4-BE49-F238E27FC236}">
                <a16:creationId xmlns:a16="http://schemas.microsoft.com/office/drawing/2014/main" id="{E7095A29-8025-4B82-A48F-131A1D5930CA}"/>
              </a:ext>
            </a:extLst>
          </p:cNvPr>
          <p:cNvSpPr/>
          <p:nvPr/>
        </p:nvSpPr>
        <p:spPr>
          <a:xfrm>
            <a:off x="9786399" y="7963110"/>
            <a:ext cx="7308681" cy="1543050"/>
          </a:xfrm>
          <a:prstGeom prst="roundRect">
            <a:avLst>
              <a:gd name="adj" fmla="val 12346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5">
            <a:extLst>
              <a:ext uri="{FF2B5EF4-FFF2-40B4-BE49-F238E27FC236}">
                <a16:creationId xmlns:a16="http://schemas.microsoft.com/office/drawing/2014/main" id="{A5AD600B-1F20-43AC-9D4F-A7018FBC9790}"/>
              </a:ext>
            </a:extLst>
          </p:cNvPr>
          <p:cNvSpPr/>
          <p:nvPr/>
        </p:nvSpPr>
        <p:spPr>
          <a:xfrm>
            <a:off x="9922646" y="8130703"/>
            <a:ext cx="2783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25554074-6D23-4333-9B49-1BADFE4F5458}"/>
              </a:ext>
            </a:extLst>
          </p:cNvPr>
          <p:cNvSpPr/>
          <p:nvPr/>
        </p:nvSpPr>
        <p:spPr>
          <a:xfrm>
            <a:off x="10258105" y="8144991"/>
            <a:ext cx="17045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5" b="1" i="0" u="none" strike="noStrike" kern="0" cap="none" spc="310" normalizeH="0" baseline="0" noProof="0" dirty="0">
                <a:ln>
                  <a:noFill/>
                </a:ln>
                <a:solidFill>
                  <a:srgbClr val="F0A06A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POINT</a:t>
            </a:r>
            <a:endParaRPr kumimoji="0" lang="en-US" sz="17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21435F87-8C70-4108-A6CF-FECF44333C51}"/>
              </a:ext>
            </a:extLst>
          </p:cNvPr>
          <p:cNvSpPr/>
          <p:nvPr/>
        </p:nvSpPr>
        <p:spPr>
          <a:xfrm>
            <a:off x="9940537" y="8549998"/>
            <a:ext cx="7308681" cy="833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2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더 많이 해줄수록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지식을 가진 사람의 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</a:t>
            </a:r>
            <a:endParaRPr kumimoji="0" lang="en-US" altLang="ko-KR" sz="2250" b="1" i="0" u="none" strike="noStrike" kern="1200" cap="none" spc="0" normalizeH="0" baseline="0" noProof="0" dirty="0">
              <a:ln>
                <a:noFill/>
              </a:ln>
              <a:solidFill>
                <a:srgbClr val="F3ECDD"/>
              </a:solidFill>
              <a:effectLst/>
              <a:uLnTx/>
              <a:uFillTx/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22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250" b="1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</a:rPr>
              <a:t>역설적으로 올라간다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7791D6B-4B8D-4343-BCF6-DDBCB647AC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2458" y="4966691"/>
            <a:ext cx="3956561" cy="289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5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에이전트 루프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GenCard480">
            <a:extLst>
              <a:ext uri="{FF2B5EF4-FFF2-40B4-BE49-F238E27FC236}">
                <a16:creationId xmlns:a16="http://schemas.microsoft.com/office/drawing/2014/main" id="{E9B32DC6-BDF2-6CF9-88CC-F560F615C049}"/>
              </a:ext>
            </a:extLst>
          </p:cNvPr>
          <p:cNvSpPr/>
          <p:nvPr/>
        </p:nvSpPr>
        <p:spPr>
          <a:xfrm>
            <a:off x="1047750" y="4502794"/>
            <a:ext cx="4600000" cy="360000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GenRich481">
            <a:extLst>
              <a:ext uri="{FF2B5EF4-FFF2-40B4-BE49-F238E27FC236}">
                <a16:creationId xmlns:a16="http://schemas.microsoft.com/office/drawing/2014/main" id="{ADC1FDF8-BC55-1F8F-D41D-DF251521C370}"/>
              </a:ext>
            </a:extLst>
          </p:cNvPr>
          <p:cNvSpPr txBox="1"/>
          <p:nvPr/>
        </p:nvSpPr>
        <p:spPr>
          <a:xfrm>
            <a:off x="1347750" y="4952794"/>
            <a:ext cx="4000000" cy="2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4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ko-KR" altLang="en-US" sz="32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컨텍스트 수집</a:t>
            </a:r>
          </a:p>
          <a:p>
            <a:pPr algn="ctr">
              <a:spcBef>
                <a:spcPts val="1100"/>
              </a:spcBef>
            </a:pPr>
            <a:r>
              <a:rPr lang="ko-KR" altLang="en-US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파일 검색 · 코드 구조 파악</a:t>
            </a:r>
            <a:br>
              <a:rPr sz="2800" dirty="0"/>
            </a:br>
            <a:r>
              <a:rPr lang="ko-KR" altLang="en-US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설정 파일 읽기 · 의존성 매핑</a:t>
            </a:r>
          </a:p>
        </p:txBody>
      </p:sp>
      <p:sp>
        <p:nvSpPr>
          <p:cNvPr id="11" name="GenCard482">
            <a:extLst>
              <a:ext uri="{FF2B5EF4-FFF2-40B4-BE49-F238E27FC236}">
                <a16:creationId xmlns:a16="http://schemas.microsoft.com/office/drawing/2014/main" id="{39335EEE-5EBA-9431-4939-0CB0E45B4721}"/>
              </a:ext>
            </a:extLst>
          </p:cNvPr>
          <p:cNvSpPr/>
          <p:nvPr/>
        </p:nvSpPr>
        <p:spPr>
          <a:xfrm>
            <a:off x="6844000" y="4502794"/>
            <a:ext cx="4600000" cy="360000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GenRich483">
            <a:extLst>
              <a:ext uri="{FF2B5EF4-FFF2-40B4-BE49-F238E27FC236}">
                <a16:creationId xmlns:a16="http://schemas.microsoft.com/office/drawing/2014/main" id="{21769CE9-7726-4D41-08C3-93A8F188F305}"/>
              </a:ext>
            </a:extLst>
          </p:cNvPr>
          <p:cNvSpPr txBox="1"/>
          <p:nvPr/>
        </p:nvSpPr>
        <p:spPr>
          <a:xfrm>
            <a:off x="7144000" y="4952794"/>
            <a:ext cx="4000000" cy="2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4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ko-KR" altLang="en-US" sz="32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작업 수행</a:t>
            </a:r>
          </a:p>
          <a:p>
            <a:pPr algn="ctr">
              <a:spcBef>
                <a:spcPts val="1100"/>
              </a:spcBef>
            </a:pPr>
            <a:r>
              <a:rPr lang="ko-KR" altLang="en-US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파일 편집 · 셸 명령 실행</a:t>
            </a:r>
            <a:br>
              <a:rPr sz="2800" dirty="0"/>
            </a:br>
            <a:r>
              <a:rPr lang="ko-KR" altLang="en-US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새 파일 생성</a:t>
            </a:r>
          </a:p>
        </p:txBody>
      </p:sp>
      <p:sp>
        <p:nvSpPr>
          <p:cNvPr id="13" name="GenCard484">
            <a:extLst>
              <a:ext uri="{FF2B5EF4-FFF2-40B4-BE49-F238E27FC236}">
                <a16:creationId xmlns:a16="http://schemas.microsoft.com/office/drawing/2014/main" id="{81A73D4A-FD51-DBF0-7386-87A67AF4F982}"/>
              </a:ext>
            </a:extLst>
          </p:cNvPr>
          <p:cNvSpPr/>
          <p:nvPr/>
        </p:nvSpPr>
        <p:spPr>
          <a:xfrm>
            <a:off x="12640250" y="4502794"/>
            <a:ext cx="4600000" cy="3600000"/>
          </a:xfrm>
          <a:prstGeom prst="roundRect">
            <a:avLst>
              <a:gd name="adj" fmla="val 8633"/>
            </a:avLst>
          </a:prstGeom>
          <a:solidFill>
            <a:srgbClr val="1C1712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GenRich485">
            <a:extLst>
              <a:ext uri="{FF2B5EF4-FFF2-40B4-BE49-F238E27FC236}">
                <a16:creationId xmlns:a16="http://schemas.microsoft.com/office/drawing/2014/main" id="{E5E5596F-4274-7066-F831-A434C889360C}"/>
              </a:ext>
            </a:extLst>
          </p:cNvPr>
          <p:cNvSpPr txBox="1"/>
          <p:nvPr/>
        </p:nvSpPr>
        <p:spPr>
          <a:xfrm>
            <a:off x="12940250" y="4952794"/>
            <a:ext cx="4000000" cy="2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54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lang="ko-KR" altLang="en-US" sz="3600" b="1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결과 검증</a:t>
            </a:r>
          </a:p>
          <a:p>
            <a:pPr algn="ctr">
              <a:spcBef>
                <a:spcPts val="1100"/>
              </a:spcBef>
            </a:pPr>
            <a:r>
              <a:rPr lang="ko-KR" altLang="en-US" sz="20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테스트 실행 · 빌드 확인</a:t>
            </a:r>
            <a:br>
              <a:rPr sz="3200" dirty="0"/>
            </a:br>
            <a:r>
              <a:rPr lang="ko-KR" altLang="en-US" sz="20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오류 시 1로 복귀</a:t>
            </a:r>
          </a:p>
        </p:txBody>
      </p:sp>
      <p:sp>
        <p:nvSpPr>
          <p:cNvPr id="15" name="GenText488">
            <a:extLst>
              <a:ext uri="{FF2B5EF4-FFF2-40B4-BE49-F238E27FC236}">
                <a16:creationId xmlns:a16="http://schemas.microsoft.com/office/drawing/2014/main" id="{B04B4B77-F91E-A3B6-8BF9-4D56FEA0E4BB}"/>
              </a:ext>
            </a:extLst>
          </p:cNvPr>
          <p:cNvSpPr txBox="1"/>
          <p:nvPr/>
        </p:nvSpPr>
        <p:spPr>
          <a:xfrm>
            <a:off x="5647750" y="5802794"/>
            <a:ext cx="1196250" cy="9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3600" b="1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GenText489">
            <a:extLst>
              <a:ext uri="{FF2B5EF4-FFF2-40B4-BE49-F238E27FC236}">
                <a16:creationId xmlns:a16="http://schemas.microsoft.com/office/drawing/2014/main" id="{E26CED86-B82B-4DEF-428F-465AF6584BBE}"/>
              </a:ext>
            </a:extLst>
          </p:cNvPr>
          <p:cNvSpPr txBox="1"/>
          <p:nvPr/>
        </p:nvSpPr>
        <p:spPr>
          <a:xfrm>
            <a:off x="11444000" y="5802794"/>
            <a:ext cx="1196250" cy="9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3600" b="1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GenText490">
            <a:extLst>
              <a:ext uri="{FF2B5EF4-FFF2-40B4-BE49-F238E27FC236}">
                <a16:creationId xmlns:a16="http://schemas.microsoft.com/office/drawing/2014/main" id="{8F86DBD2-1E29-54C6-46A9-946054B7F8CF}"/>
              </a:ext>
            </a:extLst>
          </p:cNvPr>
          <p:cNvSpPr txBox="1"/>
          <p:nvPr/>
        </p:nvSpPr>
        <p:spPr>
          <a:xfrm>
            <a:off x="1047750" y="9331506"/>
            <a:ext cx="161925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목표를 달성할 때까지 반복 — 검증에 막히면 1로 돌아갑니다</a:t>
            </a: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1E5E3C55-A4EC-B505-CA97-219C56D58311}"/>
              </a:ext>
            </a:extLst>
          </p:cNvPr>
          <p:cNvCxnSpPr>
            <a:cxnSpLocks/>
          </p:cNvCxnSpPr>
          <p:nvPr/>
        </p:nvCxnSpPr>
        <p:spPr>
          <a:xfrm rot="5400000">
            <a:off x="9144000" y="2491606"/>
            <a:ext cx="12700" cy="11592500"/>
          </a:xfrm>
          <a:prstGeom prst="curvedConnector3">
            <a:avLst>
              <a:gd name="adj1" fmla="val 5828575"/>
            </a:avLst>
          </a:prstGeom>
          <a:ln w="57150">
            <a:solidFill>
              <a:srgbClr val="E8620D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 descr="갤러리 - 무료 상호 작용개 아이콘">
            <a:extLst>
              <a:ext uri="{FF2B5EF4-FFF2-40B4-BE49-F238E27FC236}">
                <a16:creationId xmlns:a16="http://schemas.microsoft.com/office/drawing/2014/main" id="{B78DCE50-555E-07D6-D9C1-10E590355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46" y="2608166"/>
            <a:ext cx="1879776" cy="1879776"/>
          </a:xfrm>
          <a:prstGeom prst="rect">
            <a:avLst/>
          </a:prstGeom>
        </p:spPr>
      </p:pic>
      <p:pic>
        <p:nvPicPr>
          <p:cNvPr id="21" name="그림 20" descr="서류 - 무료 파일 및 폴더개 아이콘">
            <a:extLst>
              <a:ext uri="{FF2B5EF4-FFF2-40B4-BE49-F238E27FC236}">
                <a16:creationId xmlns:a16="http://schemas.microsoft.com/office/drawing/2014/main" id="{F6F512C5-C58A-5C3B-D7BC-D246A1353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472" y="2652307"/>
            <a:ext cx="1788556" cy="1788556"/>
          </a:xfrm>
          <a:prstGeom prst="rect">
            <a:avLst/>
          </a:prstGeom>
        </p:spPr>
      </p:pic>
      <p:pic>
        <p:nvPicPr>
          <p:cNvPr id="26" name="그림 25" descr="웹 브라우저 - 무료 편물개 아이콘">
            <a:extLst>
              <a:ext uri="{FF2B5EF4-FFF2-40B4-BE49-F238E27FC236}">
                <a16:creationId xmlns:a16="http://schemas.microsoft.com/office/drawing/2014/main" id="{32FB7AD4-E4E2-9F73-F80B-DD94077FF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9393" y="2641739"/>
            <a:ext cx="1879777" cy="1879777"/>
          </a:xfrm>
          <a:prstGeom prst="rect">
            <a:avLst/>
          </a:prstGeom>
        </p:spPr>
      </p:pic>
      <p:pic>
        <p:nvPicPr>
          <p:cNvPr id="27" name="그림 26" descr="Command Line Interface. CLI. Vector IT illustration, icon. (1141426141)  일러스트, 무료 일러스트, 아이콘, 무료 아이콘 - 게티이미지뱅크">
            <a:extLst>
              <a:ext uri="{FF2B5EF4-FFF2-40B4-BE49-F238E27FC236}">
                <a16:creationId xmlns:a16="http://schemas.microsoft.com/office/drawing/2014/main" id="{E4387BEF-0EEB-F9EF-6B0A-BF10DB5821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29" b="10828"/>
          <a:stretch>
            <a:fillRect/>
          </a:stretch>
        </p:blipFill>
        <p:spPr>
          <a:xfrm>
            <a:off x="6893756" y="2725016"/>
            <a:ext cx="1947545" cy="1480955"/>
          </a:xfrm>
          <a:prstGeom prst="rect">
            <a:avLst/>
          </a:prstGeom>
        </p:spPr>
      </p:pic>
      <p:pic>
        <p:nvPicPr>
          <p:cNvPr id="28" name="그림 27" descr="다시보기에 컴퓨터 작업자 - 무료 컴퓨터개 아이콘">
            <a:extLst>
              <a:ext uri="{FF2B5EF4-FFF2-40B4-BE49-F238E27FC236}">
                <a16:creationId xmlns:a16="http://schemas.microsoft.com/office/drawing/2014/main" id="{E97C76F2-5810-9D68-7759-44D6A10A68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5887" y="2725015"/>
            <a:ext cx="1699958" cy="1480955"/>
          </a:xfrm>
          <a:prstGeom prst="rect">
            <a:avLst/>
          </a:prstGeom>
        </p:spPr>
      </p:pic>
      <p:pic>
        <p:nvPicPr>
          <p:cNvPr id="29" name="그림 28" descr="검증 - 무료 파일 및 폴더개 아이콘">
            <a:extLst>
              <a:ext uri="{FF2B5EF4-FFF2-40B4-BE49-F238E27FC236}">
                <a16:creationId xmlns:a16="http://schemas.microsoft.com/office/drawing/2014/main" id="{CEA141D2-B65E-8AE4-F565-706CA6FA18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26232" y="2524125"/>
            <a:ext cx="1681846" cy="168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E71B9-E861-F50A-E714-90F57EB1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A62EC9-9E22-6B07-6D0F-33109C38633C}"/>
              </a:ext>
            </a:extLst>
          </p:cNvPr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BE89A9-9073-CC76-1683-2C0DC95D1706}"/>
              </a:ext>
            </a:extLst>
          </p:cNvPr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D552721-7FFD-0DFC-9DCB-75AFE3C93AFC}"/>
              </a:ext>
            </a:extLst>
          </p:cNvPr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컨텍스트 수집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X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28FDFE-DDA1-C25E-F847-561201A14CCF}"/>
              </a:ext>
            </a:extLst>
          </p:cNvPr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11345E-21CA-7181-7842-F7867E20CDC8}"/>
              </a:ext>
            </a:extLst>
          </p:cNvPr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D53EABB-D74E-BC93-17E3-3C826593067D}"/>
              </a:ext>
            </a:extLst>
          </p:cNvPr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8476824-EDC3-11DB-D303-20F8C0AF19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22" b="60231"/>
          <a:stretch>
            <a:fillRect/>
          </a:stretch>
        </p:blipFill>
        <p:spPr>
          <a:xfrm>
            <a:off x="1507981" y="2143125"/>
            <a:ext cx="15272037" cy="774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03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7C773-AA8D-DA60-5559-28E6F7B1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C505E2-D468-020F-D21F-F399E2CD12FF}"/>
              </a:ext>
            </a:extLst>
          </p:cNvPr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798C31-C83E-A050-9B62-3AAA1F48E9A4}"/>
              </a:ext>
            </a:extLst>
          </p:cNvPr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54152E-5D07-E56B-61D4-56B6F9D18DA8}"/>
              </a:ext>
            </a:extLst>
          </p:cNvPr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6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작업 수행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X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B4E8B7-F34F-B9FE-3166-F31A08BD5DCD}"/>
              </a:ext>
            </a:extLst>
          </p:cNvPr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10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C2795B-19F3-6A28-DEBA-E8F72AD5D86B}"/>
              </a:ext>
            </a:extLst>
          </p:cNvPr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DAEB2D9-7929-D3FF-E0D5-4E32504DC015}"/>
              </a:ext>
            </a:extLst>
          </p:cNvPr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301E33-E46A-4C47-0214-C2AC24D07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253"/>
          <a:stretch>
            <a:fillRect/>
          </a:stretch>
        </p:blipFill>
        <p:spPr>
          <a:xfrm>
            <a:off x="1200150" y="2305050"/>
            <a:ext cx="15887700" cy="758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00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5171D-6A69-F631-72C3-143CD9DD1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105E4D-68E7-69C8-6DC0-F8D02EF35164}"/>
              </a:ext>
            </a:extLst>
          </p:cNvPr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273893-1384-0EC0-3A55-929EA7C58D00}"/>
              </a:ext>
            </a:extLst>
          </p:cNvPr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BA1220-EAD0-2F47-2ADB-B0B60D1D28F6}"/>
              </a:ext>
            </a:extLst>
          </p:cNvPr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결과 검증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X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1D5EE9-6239-052E-A67C-F0C08D622E7A}"/>
              </a:ext>
            </a:extLst>
          </p:cNvPr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3251CF-0490-C2AD-D2CD-0C56411C7262}"/>
              </a:ext>
            </a:extLst>
          </p:cNvPr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17E4DF-B147-1AD2-85D9-8FAA85C3A361}"/>
              </a:ext>
            </a:extLst>
          </p:cNvPr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1766BC2-7FDB-1D8D-D4D9-4E4545EB6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29" y="2305050"/>
            <a:ext cx="13322341" cy="74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1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엔지니어링의 진화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06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GenCard500">
            <a:extLst>
              <a:ext uri="{FF2B5EF4-FFF2-40B4-BE49-F238E27FC236}">
                <a16:creationId xmlns:a16="http://schemas.microsoft.com/office/drawing/2014/main" id="{CA5C290B-2C88-04C8-1BF5-0230098205A2}"/>
              </a:ext>
            </a:extLst>
          </p:cNvPr>
          <p:cNvSpPr/>
          <p:nvPr/>
        </p:nvSpPr>
        <p:spPr>
          <a:xfrm>
            <a:off x="1047750" y="5072600"/>
            <a:ext cx="4600000" cy="430000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GenRich501">
            <a:extLst>
              <a:ext uri="{FF2B5EF4-FFF2-40B4-BE49-F238E27FC236}">
                <a16:creationId xmlns:a16="http://schemas.microsoft.com/office/drawing/2014/main" id="{B084EA08-38CA-5838-3EC3-DA765D30D145}"/>
              </a:ext>
            </a:extLst>
          </p:cNvPr>
          <p:cNvSpPr txBox="1"/>
          <p:nvPr/>
        </p:nvSpPr>
        <p:spPr>
          <a:xfrm>
            <a:off x="1447750" y="5472600"/>
            <a:ext cx="3800000" cy="3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2023–</a:t>
            </a:r>
          </a:p>
          <a:p>
            <a:pPr algn="l">
              <a:spcBef>
                <a:spcPts val="700"/>
              </a:spcBef>
            </a:pPr>
            <a:r>
              <a:rPr lang="ko-KR" altLang="en-US" sz="40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프롬프트</a:t>
            </a:r>
            <a:br>
              <a:rPr sz="3600" dirty="0"/>
            </a:br>
            <a:r>
              <a:rPr lang="ko-KR" altLang="en-US" sz="40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엔지니어링</a:t>
            </a:r>
          </a:p>
          <a:p>
            <a:pPr algn="l">
              <a:spcBef>
                <a:spcPts val="1400"/>
              </a:spcBef>
            </a:pP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모델에게</a:t>
            </a:r>
            <a:br>
              <a:rPr sz="3600" dirty="0"/>
            </a:b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무엇을 </a:t>
            </a:r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말할</a:t>
            </a: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 것인가</a:t>
            </a:r>
          </a:p>
          <a:p>
            <a:pPr algn="l">
              <a:spcBef>
                <a:spcPts val="1600"/>
              </a:spcBef>
            </a:pPr>
            <a:r>
              <a:rPr lang="ko-KR" altLang="en-US" sz="20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단일 프롬프트 · 정적</a:t>
            </a:r>
          </a:p>
        </p:txBody>
      </p:sp>
      <p:sp>
        <p:nvSpPr>
          <p:cNvPr id="14" name="GenCard502">
            <a:extLst>
              <a:ext uri="{FF2B5EF4-FFF2-40B4-BE49-F238E27FC236}">
                <a16:creationId xmlns:a16="http://schemas.microsoft.com/office/drawing/2014/main" id="{ED7B6BAC-3C2E-09AF-D2C5-2F66DA58053B}"/>
              </a:ext>
            </a:extLst>
          </p:cNvPr>
          <p:cNvSpPr/>
          <p:nvPr/>
        </p:nvSpPr>
        <p:spPr>
          <a:xfrm>
            <a:off x="6844000" y="5072600"/>
            <a:ext cx="4600000" cy="430000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GenRich503">
            <a:extLst>
              <a:ext uri="{FF2B5EF4-FFF2-40B4-BE49-F238E27FC236}">
                <a16:creationId xmlns:a16="http://schemas.microsoft.com/office/drawing/2014/main" id="{E8D4F7FF-3883-297B-4D84-715EE809A676}"/>
              </a:ext>
            </a:extLst>
          </p:cNvPr>
          <p:cNvSpPr txBox="1"/>
          <p:nvPr/>
        </p:nvSpPr>
        <p:spPr>
          <a:xfrm>
            <a:off x="7244000" y="5472600"/>
            <a:ext cx="3800000" cy="3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2025–</a:t>
            </a:r>
          </a:p>
          <a:p>
            <a:pPr algn="l">
              <a:spcBef>
                <a:spcPts val="700"/>
              </a:spcBef>
            </a:pPr>
            <a:r>
              <a:rPr lang="ko-KR" altLang="en-US" sz="40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컨텍스트</a:t>
            </a:r>
            <a:br>
              <a:rPr sz="3600" dirty="0"/>
            </a:br>
            <a:r>
              <a:rPr lang="ko-KR" altLang="en-US" sz="4000" b="1" i="0" dirty="0">
                <a:solidFill>
                  <a:srgbClr val="1C1712"/>
                </a:solidFill>
                <a:latin typeface="Noto Sans KR"/>
                <a:ea typeface="Noto Sans KR"/>
                <a:cs typeface="Noto Sans KR"/>
              </a:rPr>
              <a:t>엔지니어링</a:t>
            </a:r>
          </a:p>
          <a:p>
            <a:pPr algn="l">
              <a:spcBef>
                <a:spcPts val="1400"/>
              </a:spcBef>
            </a:pP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모델에게</a:t>
            </a:r>
            <a:br>
              <a:rPr sz="3600" dirty="0"/>
            </a:b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무엇을 </a:t>
            </a:r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보여줄</a:t>
            </a:r>
            <a:r>
              <a:rPr lang="ko-KR" altLang="en-US" sz="28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 것인가</a:t>
            </a:r>
          </a:p>
          <a:p>
            <a:pPr algn="l">
              <a:spcBef>
                <a:spcPts val="1600"/>
              </a:spcBef>
            </a:pPr>
            <a:r>
              <a:rPr lang="ko-KR" altLang="en-US" sz="2000" b="0" i="0" dirty="0">
                <a:solidFill>
                  <a:srgbClr val="6B5F4C"/>
                </a:solidFill>
                <a:latin typeface="Noto Sans KR"/>
                <a:ea typeface="Noto Sans KR"/>
                <a:cs typeface="Noto Sans KR"/>
              </a:rPr>
              <a:t>입력 파이프라인 전체 · 동적</a:t>
            </a:r>
          </a:p>
        </p:txBody>
      </p:sp>
      <p:sp>
        <p:nvSpPr>
          <p:cNvPr id="18" name="GenCard504">
            <a:extLst>
              <a:ext uri="{FF2B5EF4-FFF2-40B4-BE49-F238E27FC236}">
                <a16:creationId xmlns:a16="http://schemas.microsoft.com/office/drawing/2014/main" id="{5810A74C-7F39-611E-CE92-306AA40C63B8}"/>
              </a:ext>
            </a:extLst>
          </p:cNvPr>
          <p:cNvSpPr/>
          <p:nvPr/>
        </p:nvSpPr>
        <p:spPr>
          <a:xfrm>
            <a:off x="12640250" y="5072600"/>
            <a:ext cx="4600000" cy="4300000"/>
          </a:xfrm>
          <a:prstGeom prst="roundRect">
            <a:avLst>
              <a:gd name="adj" fmla="val 8633"/>
            </a:avLst>
          </a:prstGeom>
          <a:solidFill>
            <a:srgbClr val="1C1712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GenRich505">
            <a:extLst>
              <a:ext uri="{FF2B5EF4-FFF2-40B4-BE49-F238E27FC236}">
                <a16:creationId xmlns:a16="http://schemas.microsoft.com/office/drawing/2014/main" id="{4AEAC928-08B7-1BF3-88F6-AF2407D3C942}"/>
              </a:ext>
            </a:extLst>
          </p:cNvPr>
          <p:cNvSpPr txBox="1"/>
          <p:nvPr/>
        </p:nvSpPr>
        <p:spPr>
          <a:xfrm>
            <a:off x="13040250" y="5472600"/>
            <a:ext cx="3800000" cy="3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2026–</a:t>
            </a:r>
          </a:p>
          <a:p>
            <a:pPr algn="l">
              <a:spcBef>
                <a:spcPts val="700"/>
              </a:spcBef>
            </a:pPr>
            <a:r>
              <a:rPr lang="ko-KR" altLang="en-US" sz="4000" b="1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하네스</a:t>
            </a:r>
            <a:br>
              <a:rPr sz="3600" dirty="0"/>
            </a:br>
            <a:r>
              <a:rPr lang="ko-KR" altLang="en-US" sz="4000" b="1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엔지니어링</a:t>
            </a:r>
          </a:p>
          <a:p>
            <a:pPr algn="l">
              <a:spcBef>
                <a:spcPts val="1400"/>
              </a:spcBef>
            </a:pPr>
            <a:r>
              <a:rPr lang="ko-KR" altLang="en-US" sz="28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모델 주변에</a:t>
            </a:r>
            <a:br>
              <a:rPr sz="3600" dirty="0"/>
            </a:br>
            <a:r>
              <a:rPr lang="ko-KR" altLang="en-US" sz="28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무엇을 </a:t>
            </a:r>
            <a:r>
              <a:rPr lang="ko-KR" altLang="en-US" sz="2800" b="1" i="0" dirty="0">
                <a:solidFill>
                  <a:srgbClr val="E8620D"/>
                </a:solidFill>
                <a:latin typeface="Noto Sans KR"/>
                <a:ea typeface="Noto Sans KR"/>
                <a:cs typeface="Noto Sans KR"/>
              </a:rPr>
              <a:t>구축할</a:t>
            </a:r>
            <a:r>
              <a:rPr lang="ko-KR" altLang="en-US" sz="28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 것인가</a:t>
            </a:r>
          </a:p>
          <a:p>
            <a:pPr algn="l">
              <a:spcBef>
                <a:spcPts val="1600"/>
              </a:spcBef>
            </a:pPr>
            <a:r>
              <a:rPr lang="ko-KR" altLang="en-US" sz="2000" b="0" i="0" dirty="0">
                <a:solidFill>
                  <a:srgbClr val="F3ECDD"/>
                </a:solidFill>
                <a:latin typeface="Noto Sans KR"/>
                <a:ea typeface="Noto Sans KR"/>
                <a:cs typeface="Noto Sans KR"/>
              </a:rPr>
              <a:t>실행 환경 전체 · 시스템 아키텍처</a:t>
            </a: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7BAC8275-C7AA-E87B-4CA1-64A7BBF5542C}"/>
              </a:ext>
            </a:extLst>
          </p:cNvPr>
          <p:cNvSpPr/>
          <p:nvPr/>
        </p:nvSpPr>
        <p:spPr>
          <a:xfrm>
            <a:off x="1327070" y="4167725"/>
            <a:ext cx="40413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모의 고사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잘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만들어줘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!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761F27-490E-4A24-95AB-A3A858EE3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 t="10750" r="77490" b="16973"/>
          <a:stretch>
            <a:fillRect/>
          </a:stretch>
        </p:blipFill>
        <p:spPr>
          <a:xfrm>
            <a:off x="2513987" y="2282525"/>
            <a:ext cx="1667523" cy="11657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9437694-FB3B-937D-7E20-271ADCE654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727" t="8444" r="39686" b="10890"/>
          <a:stretch>
            <a:fillRect/>
          </a:stretch>
        </p:blipFill>
        <p:spPr>
          <a:xfrm>
            <a:off x="8310237" y="2282525"/>
            <a:ext cx="1667523" cy="1165781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81A6AEB9-0C29-A662-4B74-410B07746BAE}"/>
              </a:ext>
            </a:extLst>
          </p:cNvPr>
          <p:cNvSpPr/>
          <p:nvPr/>
        </p:nvSpPr>
        <p:spPr>
          <a:xfrm>
            <a:off x="6812509" y="3730582"/>
            <a:ext cx="4662981" cy="999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학교별 족보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분석해서 </a:t>
            </a:r>
            <a:endParaRPr kumimoji="0" lang="en-US" altLang="ko-KR" sz="2850" b="1" i="0" u="none" strike="noStrike" kern="1200" cap="none" spc="0" normalizeH="0" baseline="0" noProof="0" dirty="0">
              <a:ln>
                <a:noFill/>
              </a:ln>
              <a:solidFill>
                <a:srgbClr val="1C1712"/>
              </a:solidFill>
              <a:effectLst/>
              <a:uLnTx/>
              <a:uFillTx/>
              <a:latin typeface="Noto Sans KR" pitchFamily="34" charset="0"/>
              <a:ea typeface="Noto Sans KR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모의 고사 만들어줘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!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61FAF84-03BF-1B28-8CC4-17995C31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31" t="11923" r="1824" b="5517"/>
          <a:stretch>
            <a:fillRect/>
          </a:stretch>
        </p:blipFill>
        <p:spPr>
          <a:xfrm>
            <a:off x="14106487" y="2282524"/>
            <a:ext cx="1667523" cy="1165781"/>
          </a:xfrm>
          <a:prstGeom prst="rect">
            <a:avLst/>
          </a:prstGeom>
        </p:spPr>
      </p:pic>
      <p:sp>
        <p:nvSpPr>
          <p:cNvPr id="27" name="Text 16">
            <a:extLst>
              <a:ext uri="{FF2B5EF4-FFF2-40B4-BE49-F238E27FC236}">
                <a16:creationId xmlns:a16="http://schemas.microsoft.com/office/drawing/2014/main" id="{51530BD5-8323-B3E7-6318-EF2E698C7C42}"/>
              </a:ext>
            </a:extLst>
          </p:cNvPr>
          <p:cNvSpPr/>
          <p:nvPr/>
        </p:nvSpPr>
        <p:spPr>
          <a:xfrm>
            <a:off x="12919571" y="4167724"/>
            <a:ext cx="40413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알아서 잘 해줘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^^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303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1A610-46EC-B44D-F217-A9DB2FDA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300A61-0CC5-89E1-205A-D3E285F5A2E7}"/>
              </a:ext>
            </a:extLst>
          </p:cNvPr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98397D-C2E9-A54F-4DC0-9F43E964ABDD}"/>
              </a:ext>
            </a:extLst>
          </p:cNvPr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62EE8F-A06C-C8D6-BA29-575C75FC7F2F}"/>
              </a:ext>
            </a:extLst>
          </p:cNvPr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프롬프트 엔지니어링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만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9C74FE-37B1-5C3C-5748-7AFEA67350B5}"/>
              </a:ext>
            </a:extLst>
          </p:cNvPr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B41EBC-ED2C-6E23-6826-E8248C8B49C2}"/>
              </a:ext>
            </a:extLst>
          </p:cNvPr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E18DCF-5372-880B-D13D-A6753CE16A28}"/>
              </a:ext>
            </a:extLst>
          </p:cNvPr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3AED10-B323-5D0E-3877-F2570250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7" b="50000"/>
          <a:stretch>
            <a:fillRect/>
          </a:stretch>
        </p:blipFill>
        <p:spPr>
          <a:xfrm>
            <a:off x="2740598" y="2128837"/>
            <a:ext cx="12123705" cy="772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5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5F7E4-89F9-0E3D-9ADC-4FA11BAA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C35C9B-8356-A715-1281-978969166B7B}"/>
              </a:ext>
            </a:extLst>
          </p:cNvPr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1EBEA2-3DA2-2735-49BD-D31F0CA8FAA9}"/>
              </a:ext>
            </a:extLst>
          </p:cNvPr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EDBC50-736B-E0C7-6DB4-EB15BBA40C90}"/>
              </a:ext>
            </a:extLst>
          </p:cNvPr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컨텍스트 엔지니어링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만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4581A2-C7B0-F372-3D77-D0A3E07217A0}"/>
              </a:ext>
            </a:extLst>
          </p:cNvPr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267CBA-A6F4-0D87-B80E-D77081B4F8B5}"/>
              </a:ext>
            </a:extLst>
          </p:cNvPr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19DB764-D70B-70EC-7133-7E0D16F36D3D}"/>
              </a:ext>
            </a:extLst>
          </p:cNvPr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FC25897-0ED5-1845-37E7-D7071610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356" y="2305050"/>
            <a:ext cx="13145288" cy="757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17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걱정하지 마세요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. 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전부 준비되어 있습니다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  <a:sym typeface="Wingdings" panose="05000000000000000000" pitchFamily="2" charset="2"/>
              </a:rPr>
              <a:t>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15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C3F9B5-3685-441B-ADA5-34C809528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048" y="4398861"/>
            <a:ext cx="7788202" cy="4490495"/>
          </a:xfrm>
          <a:prstGeom prst="rect">
            <a:avLst/>
          </a:prstGeom>
        </p:spPr>
      </p:pic>
      <p:sp>
        <p:nvSpPr>
          <p:cNvPr id="10" name="Text 16">
            <a:extLst>
              <a:ext uri="{FF2B5EF4-FFF2-40B4-BE49-F238E27FC236}">
                <a16:creationId xmlns:a16="http://schemas.microsoft.com/office/drawing/2014/main" id="{C10F55E3-FE0A-46EB-8995-E5E1CF39A02F}"/>
              </a:ext>
            </a:extLst>
          </p:cNvPr>
          <p:cNvSpPr/>
          <p:nvPr/>
        </p:nvSpPr>
        <p:spPr>
          <a:xfrm>
            <a:off x="9452048" y="3121125"/>
            <a:ext cx="521490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준비된 컨텍스트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6849ABC9-318F-4016-8132-497FF2829A43}"/>
              </a:ext>
            </a:extLst>
          </p:cNvPr>
          <p:cNvSpPr/>
          <p:nvPr/>
        </p:nvSpPr>
        <p:spPr>
          <a:xfrm>
            <a:off x="1047750" y="3113830"/>
            <a:ext cx="521490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준비된 프롬프트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69A8B81-2D68-4BC0-B32C-AB3B8366F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32" y="4398861"/>
            <a:ext cx="7376269" cy="448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19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응용을 위한 프롬프트 엔지니어링 맛보기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CDD329D-9C83-414E-9015-ABF236034A56}"/>
              </a:ext>
            </a:extLst>
          </p:cNvPr>
          <p:cNvSpPr/>
          <p:nvPr/>
        </p:nvSpPr>
        <p:spPr>
          <a:xfrm>
            <a:off x="1047750" y="2443944"/>
            <a:ext cx="16192500" cy="1360751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A50949A5-F0D0-4F0D-A0AB-558ACD1C56B6}"/>
              </a:ext>
            </a:extLst>
          </p:cNvPr>
          <p:cNvSpPr/>
          <p:nvPr/>
        </p:nvSpPr>
        <p:spPr>
          <a:xfrm>
            <a:off x="1382259" y="2653914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890A4CA-135C-4702-85AB-A5A0F3184740}"/>
              </a:ext>
            </a:extLst>
          </p:cNvPr>
          <p:cNvSpPr/>
          <p:nvPr/>
        </p:nvSpPr>
        <p:spPr>
          <a:xfrm>
            <a:off x="1344159" y="263010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1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0D04E38-FB00-409E-93F0-1CC41954E7C7}"/>
              </a:ext>
            </a:extLst>
          </p:cNvPr>
          <p:cNvSpPr/>
          <p:nvPr/>
        </p:nvSpPr>
        <p:spPr>
          <a:xfrm>
            <a:off x="1997406" y="2625934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부여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A70B11C-4056-461C-9E52-9AF2B8C5AD9D}"/>
              </a:ext>
            </a:extLst>
          </p:cNvPr>
          <p:cNvSpPr/>
          <p:nvPr/>
        </p:nvSpPr>
        <p:spPr>
          <a:xfrm>
            <a:off x="2710872" y="2634953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위임하고 싶은 역할을 부여합니다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0426B89-E005-4123-B5B9-6C5D4203C951}"/>
              </a:ext>
            </a:extLst>
          </p:cNvPr>
          <p:cNvSpPr/>
          <p:nvPr/>
        </p:nvSpPr>
        <p:spPr>
          <a:xfrm>
            <a:off x="1382259" y="3172817"/>
            <a:ext cx="1549941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너는 이제부터 중고등 영어교육을 하는 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OO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어학원의 입시 컨설턴트야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2002E0D9-91E2-4B7E-B929-C175C2722CE7}"/>
              </a:ext>
            </a:extLst>
          </p:cNvPr>
          <p:cNvSpPr/>
          <p:nvPr/>
        </p:nvSpPr>
        <p:spPr>
          <a:xfrm>
            <a:off x="1047750" y="3992785"/>
            <a:ext cx="16192500" cy="1360751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2BF2B78B-71AE-45FB-97D3-CC43727A847D}"/>
              </a:ext>
            </a:extLst>
          </p:cNvPr>
          <p:cNvSpPr/>
          <p:nvPr/>
        </p:nvSpPr>
        <p:spPr>
          <a:xfrm>
            <a:off x="1382259" y="4202755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D487B76-DC30-41C7-8B38-F33205ACF89D}"/>
              </a:ext>
            </a:extLst>
          </p:cNvPr>
          <p:cNvSpPr/>
          <p:nvPr/>
        </p:nvSpPr>
        <p:spPr>
          <a:xfrm>
            <a:off x="1344159" y="417894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2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12344F8-0EE6-4F75-9A69-E22F82F3E899}"/>
              </a:ext>
            </a:extLst>
          </p:cNvPr>
          <p:cNvSpPr/>
          <p:nvPr/>
        </p:nvSpPr>
        <p:spPr>
          <a:xfrm>
            <a:off x="1997406" y="4174775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맥락 설명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74A2BBE-9A6B-4585-B04D-D133A76C4F7A}"/>
              </a:ext>
            </a:extLst>
          </p:cNvPr>
          <p:cNvSpPr/>
          <p:nvPr/>
        </p:nvSpPr>
        <p:spPr>
          <a:xfrm>
            <a:off x="3144920" y="4183794"/>
            <a:ext cx="873070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인수인계 하듯 작업과 관련된 배경 및 맥락을 설명합니다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F2E87B39-7C1A-45AF-9EC1-0BDEF10114CA}"/>
              </a:ext>
            </a:extLst>
          </p:cNvPr>
          <p:cNvSpPr/>
          <p:nvPr/>
        </p:nvSpPr>
        <p:spPr>
          <a:xfrm>
            <a:off x="1382259" y="4721658"/>
            <a:ext cx="1549941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주말에 우리 어학원에서 학부모들 대상으로 대학 진학을 위한 내신 전략 설명회를 진행할거야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3EA7B419-320A-4E03-84D7-2DB629908D21}"/>
              </a:ext>
            </a:extLst>
          </p:cNvPr>
          <p:cNvSpPr/>
          <p:nvPr/>
        </p:nvSpPr>
        <p:spPr>
          <a:xfrm>
            <a:off x="1047750" y="5544545"/>
            <a:ext cx="16192500" cy="1360751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47A7C234-01A6-49A0-9CE2-BB40603E0410}"/>
              </a:ext>
            </a:extLst>
          </p:cNvPr>
          <p:cNvSpPr/>
          <p:nvPr/>
        </p:nvSpPr>
        <p:spPr>
          <a:xfrm>
            <a:off x="1382259" y="5754515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4278D79-E945-4A35-9CF3-270109B82FDB}"/>
              </a:ext>
            </a:extLst>
          </p:cNvPr>
          <p:cNvSpPr/>
          <p:nvPr/>
        </p:nvSpPr>
        <p:spPr>
          <a:xfrm>
            <a:off x="1344159" y="5730706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41E1294-4FEC-47BA-8330-4176C1165221}"/>
              </a:ext>
            </a:extLst>
          </p:cNvPr>
          <p:cNvSpPr/>
          <p:nvPr/>
        </p:nvSpPr>
        <p:spPr>
          <a:xfrm>
            <a:off x="1997406" y="5726535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작업 지시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E602EA7-A610-4538-BAB8-262C2587031D}"/>
              </a:ext>
            </a:extLst>
          </p:cNvPr>
          <p:cNvSpPr/>
          <p:nvPr/>
        </p:nvSpPr>
        <p:spPr>
          <a:xfrm>
            <a:off x="3144920" y="5735554"/>
            <a:ext cx="873070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결과에 대해 지시합니다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E248475F-62BB-473A-93F2-214FE1A807B6}"/>
              </a:ext>
            </a:extLst>
          </p:cNvPr>
          <p:cNvSpPr/>
          <p:nvPr/>
        </p:nvSpPr>
        <p:spPr>
          <a:xfrm>
            <a:off x="1382259" y="6273418"/>
            <a:ext cx="1549941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설명회에 들어갈 우리 학원 </a:t>
            </a:r>
            <a:r>
              <a:rPr kumimoji="0" lang="ko-KR" altLang="en-US" sz="16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학군지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OO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고등학교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/XX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고등학교에 대한 학부모 대상 입시 전략 설명집을 만들어줘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3D08E572-6E26-4C88-A566-ACDC45077427}"/>
              </a:ext>
            </a:extLst>
          </p:cNvPr>
          <p:cNvSpPr/>
          <p:nvPr/>
        </p:nvSpPr>
        <p:spPr>
          <a:xfrm>
            <a:off x="1047750" y="7763334"/>
            <a:ext cx="16192500" cy="2034636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817F1CF0-521C-470C-8FD5-9C7B3943BBA9}"/>
              </a:ext>
            </a:extLst>
          </p:cNvPr>
          <p:cNvSpPr/>
          <p:nvPr/>
        </p:nvSpPr>
        <p:spPr>
          <a:xfrm>
            <a:off x="1382259" y="7973304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0D9F537D-E3A5-4764-810E-1B76ABD2DBA8}"/>
              </a:ext>
            </a:extLst>
          </p:cNvPr>
          <p:cNvSpPr/>
          <p:nvPr/>
        </p:nvSpPr>
        <p:spPr>
          <a:xfrm>
            <a:off x="1344159" y="794949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4-6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4E177042-70BB-4D09-93AE-3FF549607A7A}"/>
              </a:ext>
            </a:extLst>
          </p:cNvPr>
          <p:cNvSpPr/>
          <p:nvPr/>
        </p:nvSpPr>
        <p:spPr>
          <a:xfrm>
            <a:off x="1997405" y="7945324"/>
            <a:ext cx="12661931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출력 형식 </a:t>
            </a:r>
            <a:r>
              <a:rPr lang="en-US" altLang="ko-KR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/ </a:t>
            </a: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문체</a:t>
            </a:r>
            <a:r>
              <a:rPr lang="en-US" altLang="ko-KR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어조 지정</a:t>
            </a:r>
            <a:r>
              <a:rPr lang="en-US" altLang="ko-KR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 / </a:t>
            </a:r>
            <a:r>
              <a:rPr lang="ko-KR" altLang="en-US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참고 데이터 부여 </a:t>
            </a:r>
            <a:r>
              <a:rPr lang="en-US" altLang="ko-KR" sz="2175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sym typeface="Wingdings" panose="05000000000000000000" pitchFamily="2" charset="2"/>
              </a:rPr>
              <a:t> </a:t>
            </a:r>
            <a:r>
              <a:rPr lang="ko-KR" altLang="en-US" sz="2175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sym typeface="Wingdings" panose="05000000000000000000" pitchFamily="2" charset="2"/>
              </a:rPr>
              <a:t>컨텍스트 엔지니어링으로 통합</a:t>
            </a:r>
            <a:r>
              <a:rPr lang="en-US" altLang="ko-KR" sz="2175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2E207265-1648-4D00-82BD-3F27362141CA}"/>
              </a:ext>
            </a:extLst>
          </p:cNvPr>
          <p:cNvSpPr/>
          <p:nvPr/>
        </p:nvSpPr>
        <p:spPr>
          <a:xfrm>
            <a:off x="1382259" y="8492206"/>
            <a:ext cx="15499417" cy="1143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</a:t>
            </a:r>
            <a:r>
              <a:rPr kumimoji="0" lang="ko-KR" altLang="en-US" sz="16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알리미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사용해줘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..</a:t>
            </a:r>
          </a:p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형식은 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</a:rPr>
              <a:t>XXX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경로상에 있는 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</a:rPr>
              <a:t>OO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폴더 내에 있는 </a:t>
            </a:r>
            <a:r>
              <a:rPr lang="ko-KR" altLang="en-US" sz="1600" dirty="0" err="1">
                <a:latin typeface="Noto Sans KR" pitchFamily="34" charset="0"/>
                <a:ea typeface="Noto Sans KR" pitchFamily="34" charset="-122"/>
              </a:rPr>
              <a:t>ㅁㅁ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 파일의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형식을 모방해줘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</a:rPr>
              <a:t>..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</a:rPr>
              <a:t> 등등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53772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7" y="762000"/>
            <a:ext cx="139708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중요한건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AI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에게 피드백을 줄 수 있는 원장님의 전문성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0E0DCE6-8428-4BC1-B501-66D9DE32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2909104"/>
            <a:ext cx="6486525" cy="14478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F2B145-2876-4836-90D6-D746952A9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82" y="4180299"/>
            <a:ext cx="6486525" cy="130727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EF88BB-1A94-4D1B-94F1-402F521CC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96" y="5449536"/>
            <a:ext cx="6486525" cy="13239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7CD3986-F8B3-4A15-817F-E00E49A1D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3034" y="6716361"/>
            <a:ext cx="6486526" cy="13606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1B34734-4EC5-436C-AD14-2F6339128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2952" y="2907129"/>
            <a:ext cx="7647297" cy="49084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13D7421-71C9-4904-8443-0067566142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96" y="7987978"/>
            <a:ext cx="6648450" cy="13239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5A7AD7-9B1C-4342-B0CB-A2F48596387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49135"/>
          <a:stretch/>
        </p:blipFill>
        <p:spPr>
          <a:xfrm>
            <a:off x="9592952" y="7762512"/>
            <a:ext cx="7647297" cy="121606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0F6D68B-DB74-4A75-BE6A-C0737CB21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2951" y="8649966"/>
            <a:ext cx="7647297" cy="657225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440147B1-8B24-49EE-80F5-E1D509021316}"/>
              </a:ext>
            </a:extLst>
          </p:cNvPr>
          <p:cNvSpPr/>
          <p:nvPr/>
        </p:nvSpPr>
        <p:spPr>
          <a:xfrm>
            <a:off x="7899722" y="2553694"/>
            <a:ext cx="590234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중 우리 학부모님들께 필요한 건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5BAADFCB-CD82-459A-81C5-46D3AC9AA8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39321" y="3956687"/>
            <a:ext cx="2596437" cy="914400"/>
          </a:xfrm>
          <a:prstGeom prst="curvedConnector3">
            <a:avLst>
              <a:gd name="adj1" fmla="val 100820"/>
            </a:avLst>
          </a:prstGeom>
          <a:ln w="28575">
            <a:solidFill>
              <a:srgbClr val="E8620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16">
            <a:extLst>
              <a:ext uri="{FF2B5EF4-FFF2-40B4-BE49-F238E27FC236}">
                <a16:creationId xmlns:a16="http://schemas.microsoft.com/office/drawing/2014/main" id="{87C59208-49C3-4F04-90A1-A3EC4672A61B}"/>
              </a:ext>
            </a:extLst>
          </p:cNvPr>
          <p:cNvSpPr/>
          <p:nvPr/>
        </p:nvSpPr>
        <p:spPr>
          <a:xfrm>
            <a:off x="11414107" y="7115687"/>
            <a:ext cx="590234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그래프를 이렇게 바꾸면 좋겠는데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4EBF3370-C600-45A1-9C5F-7A44A9DB3D3A}"/>
              </a:ext>
            </a:extLst>
          </p:cNvPr>
          <p:cNvCxnSpPr>
            <a:cxnSpLocks/>
          </p:cNvCxnSpPr>
          <p:nvPr/>
        </p:nvCxnSpPr>
        <p:spPr>
          <a:xfrm rot="5400000">
            <a:off x="15445190" y="7769895"/>
            <a:ext cx="789003" cy="412298"/>
          </a:xfrm>
          <a:prstGeom prst="curvedConnector3">
            <a:avLst>
              <a:gd name="adj1" fmla="val 50000"/>
            </a:avLst>
          </a:prstGeom>
          <a:ln w="28575">
            <a:solidFill>
              <a:srgbClr val="E8620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16">
            <a:extLst>
              <a:ext uri="{FF2B5EF4-FFF2-40B4-BE49-F238E27FC236}">
                <a16:creationId xmlns:a16="http://schemas.microsoft.com/office/drawing/2014/main" id="{751910E4-9760-4D3E-B7D7-25F1D26E01EF}"/>
              </a:ext>
            </a:extLst>
          </p:cNvPr>
          <p:cNvSpPr/>
          <p:nvPr/>
        </p:nvSpPr>
        <p:spPr>
          <a:xfrm>
            <a:off x="7185488" y="8180604"/>
            <a:ext cx="70224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50" b="1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나의 전문적인 인사이트를 </a:t>
            </a:r>
            <a:r>
              <a:rPr lang="ko-KR" altLang="en-US" sz="2850" b="1" dirty="0" err="1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</a:rPr>
              <a:t>추가해야겠어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srgbClr val="E8620D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9D557C8C-93EA-4F02-B2CF-34034F79737B}"/>
              </a:ext>
            </a:extLst>
          </p:cNvPr>
          <p:cNvCxnSpPr>
            <a:cxnSpLocks/>
          </p:cNvCxnSpPr>
          <p:nvPr/>
        </p:nvCxnSpPr>
        <p:spPr>
          <a:xfrm rot="10800000">
            <a:off x="8987742" y="8649968"/>
            <a:ext cx="867572" cy="374040"/>
          </a:xfrm>
          <a:prstGeom prst="curvedConnector3">
            <a:avLst>
              <a:gd name="adj1" fmla="val 50000"/>
            </a:avLst>
          </a:prstGeom>
          <a:ln w="28575">
            <a:solidFill>
              <a:srgbClr val="E8620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800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4295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2286000" y="0"/>
                </a:moveTo>
                <a:lnTo>
                  <a:pt x="2377440" y="0"/>
                </a:lnTo>
                <a:arcTo wR="2194560" hR="2194560" stAng="16200000" swAng="5400000"/>
                <a:lnTo>
                  <a:pt x="4572000" y="2514600"/>
                </a:lnTo>
                <a:arcTo wR="2057400" hR="2057400" stAng="0" swAng="5400000"/>
                <a:lnTo>
                  <a:pt x="2286000" y="4572000"/>
                </a:lnTo>
                <a:arcTo wR="2286000" hR="2286000" stAng="5400000" swAng="5400000"/>
                <a:lnTo>
                  <a:pt x="0" y="2286000"/>
                </a:lnTo>
                <a:arcTo wR="2286000" hR="2286000" stAng="10800000" swAng="5400000"/>
                <a:close/>
              </a:path>
            </a:pathLst>
          </a:custGeom>
          <a:solidFill>
            <a:srgbClr val="E8620D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8953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097280" y="0"/>
                </a:moveTo>
                <a:lnTo>
                  <a:pt x="1143000" y="0"/>
                </a:lnTo>
                <a:arcTo wR="1143000" hR="1143000" stAng="16200000" swAng="5400000"/>
                <a:lnTo>
                  <a:pt x="2286000" y="1143000"/>
                </a:lnTo>
                <a:arcTo wR="1143000" hR="1143000" stAng="0" swAng="5400000"/>
                <a:lnTo>
                  <a:pt x="1028700" y="2286000"/>
                </a:lnTo>
                <a:arcTo wR="1028700" hR="1028700" stAng="5400000" swAng="5400000"/>
                <a:lnTo>
                  <a:pt x="0" y="1097280"/>
                </a:lnTo>
                <a:arcTo wR="1097280" hR="1097280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1992511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52550" y="876300"/>
            <a:ext cx="1459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 </a:t>
            </a:r>
            <a:r>
              <a:rPr kumimoji="0" lang="en-US" altLang="ko-KR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49" y="2771775"/>
            <a:ext cx="1408369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r>
              <a:rPr lang="ko-KR" altLang="en-US" sz="90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란 </a:t>
            </a:r>
            <a:r>
              <a:rPr lang="ko-KR" altLang="en-US" sz="9000" b="1" dirty="0" err="1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뭔가요</a:t>
            </a:r>
            <a:r>
              <a:rPr kumimoji="0" lang="en-US" altLang="ko-KR" sz="900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</a:t>
            </a: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886325"/>
            <a:ext cx="12001500" cy="264795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1625" y="53340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3525" y="5334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00275" y="5334000"/>
            <a:ext cx="54442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개념을 이해합니다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71625" y="600075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33525" y="6000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00274" y="6000750"/>
            <a:ext cx="86723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</a:t>
            </a:r>
            <a:r>
              <a:rPr kumimoji="0" lang="ko-KR" altLang="en-US" sz="22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알리미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이해하고 발급받아봅니다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571625" y="66675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533525" y="66675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00275" y="6667500"/>
            <a:ext cx="91608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보너스 트랙</a:t>
            </a:r>
            <a:r>
              <a:rPr kumimoji="0" lang="en-US" altLang="ko-KR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NEIS API</a:t>
            </a: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발급받아봅니다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203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API 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란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?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66741D8-26D2-4CEE-8101-95A6775F673B}"/>
              </a:ext>
            </a:extLst>
          </p:cNvPr>
          <p:cNvSpPr/>
          <p:nvPr/>
        </p:nvSpPr>
        <p:spPr>
          <a:xfrm>
            <a:off x="1015847" y="2219593"/>
            <a:ext cx="16192500" cy="1698437"/>
          </a:xfrm>
          <a:prstGeom prst="rect">
            <a:avLst/>
          </a:prstGeom>
          <a:noFill/>
          <a:ln w="28575">
            <a:solidFill>
              <a:srgbClr val="E8620D"/>
            </a:solidFill>
          </a:ln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API(Application Programming Interface)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응용 프로그래밍 인터페이스</a:t>
            </a:r>
            <a:endParaRPr kumimoji="0" lang="en-US" altLang="ko-KR" sz="2850" b="1" i="0" u="none" strike="noStrike" kern="1200" cap="none" spc="0" normalizeH="0" baseline="0" noProof="0" dirty="0">
              <a:ln>
                <a:noFill/>
              </a:ln>
              <a:solidFill>
                <a:srgbClr val="1C1712"/>
              </a:solidFill>
              <a:effectLst/>
              <a:uLnTx/>
              <a:uFillTx/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50" b="1" i="0" u="none" strike="noStrike" kern="1200" cap="none" spc="0" normalizeH="0" baseline="0" noProof="0" dirty="0">
              <a:ln>
                <a:noFill/>
              </a:ln>
              <a:solidFill>
                <a:srgbClr val="1C1712"/>
              </a:solidFill>
              <a:effectLst/>
              <a:uLnTx/>
              <a:uFillTx/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서로 다른 소프트웨어가 대화하고 데이터를 주고받을 수 있게 도와주는 다리 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7F2A689-F696-402F-8E61-9A81C75E2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688" y="4764430"/>
            <a:ext cx="3806624" cy="3806624"/>
          </a:xfrm>
          <a:prstGeom prst="rect">
            <a:avLst/>
          </a:prstGeom>
        </p:spPr>
      </p:pic>
      <p:pic>
        <p:nvPicPr>
          <p:cNvPr id="2058" name="Picture 10" descr="요리사 - 무료 사람들개 아이콘">
            <a:extLst>
              <a:ext uri="{FF2B5EF4-FFF2-40B4-BE49-F238E27FC236}">
                <a16:creationId xmlns:a16="http://schemas.microsoft.com/office/drawing/2014/main" id="{38DA68E4-F0A0-4BE8-8F6C-256520A49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3019" y="4764430"/>
            <a:ext cx="3698594" cy="3698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블라인드 평가 중에 음식을 틀려버린 백종원 l 흑백요리사 - YouTube">
            <a:extLst>
              <a:ext uri="{FF2B5EF4-FFF2-40B4-BE49-F238E27FC236}">
                <a16:creationId xmlns:a16="http://schemas.microsoft.com/office/drawing/2014/main" id="{EF1747BD-0B0E-4929-A89A-20FEEB1BC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5" t="12911" r="4178" b="14262"/>
          <a:stretch/>
        </p:blipFill>
        <p:spPr bwMode="auto">
          <a:xfrm>
            <a:off x="1352550" y="5365107"/>
            <a:ext cx="4068502" cy="249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68DE849-B795-4D2B-9F48-02E9FAA8B3AC}"/>
              </a:ext>
            </a:extLst>
          </p:cNvPr>
          <p:cNvCxnSpPr/>
          <p:nvPr/>
        </p:nvCxnSpPr>
        <p:spPr>
          <a:xfrm>
            <a:off x="5827853" y="6134582"/>
            <a:ext cx="1313727" cy="0"/>
          </a:xfrm>
          <a:prstGeom prst="straightConnector1">
            <a:avLst/>
          </a:prstGeom>
          <a:ln w="57150">
            <a:solidFill>
              <a:srgbClr val="E862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57177FD-D1A4-4CE5-AF7F-74F447C88B42}"/>
              </a:ext>
            </a:extLst>
          </p:cNvPr>
          <p:cNvCxnSpPr/>
          <p:nvPr/>
        </p:nvCxnSpPr>
        <p:spPr>
          <a:xfrm>
            <a:off x="11177286" y="6134582"/>
            <a:ext cx="1313727" cy="0"/>
          </a:xfrm>
          <a:prstGeom prst="straightConnector1">
            <a:avLst/>
          </a:prstGeom>
          <a:ln w="57150">
            <a:solidFill>
              <a:srgbClr val="E862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EABF988-E931-4F2F-A072-99E87B4C1359}"/>
              </a:ext>
            </a:extLst>
          </p:cNvPr>
          <p:cNvCxnSpPr>
            <a:cxnSpLocks/>
          </p:cNvCxnSpPr>
          <p:nvPr/>
        </p:nvCxnSpPr>
        <p:spPr>
          <a:xfrm flipH="1">
            <a:off x="5827854" y="6667742"/>
            <a:ext cx="1313726" cy="1"/>
          </a:xfrm>
          <a:prstGeom prst="straightConnector1">
            <a:avLst/>
          </a:prstGeom>
          <a:ln w="57150">
            <a:solidFill>
              <a:srgbClr val="E862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2B204AF-5FC4-4620-A808-C4B3BBB9A8E0}"/>
              </a:ext>
            </a:extLst>
          </p:cNvPr>
          <p:cNvCxnSpPr>
            <a:cxnSpLocks/>
          </p:cNvCxnSpPr>
          <p:nvPr/>
        </p:nvCxnSpPr>
        <p:spPr>
          <a:xfrm flipH="1">
            <a:off x="11177286" y="6667741"/>
            <a:ext cx="1313726" cy="1"/>
          </a:xfrm>
          <a:prstGeom prst="straightConnector1">
            <a:avLst/>
          </a:prstGeom>
          <a:ln w="57150">
            <a:solidFill>
              <a:srgbClr val="E862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043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학교 </a:t>
            </a:r>
            <a:r>
              <a:rPr kumimoji="0" lang="ko-KR" altLang="en-US" sz="46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알리미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API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244" name="Picture 4" descr="초중등 정보공시학교알리미 - YouTube">
            <a:extLst>
              <a:ext uri="{FF2B5EF4-FFF2-40B4-BE49-F238E27FC236}">
                <a16:creationId xmlns:a16="http://schemas.microsoft.com/office/drawing/2014/main" id="{DB15A6B3-D06E-4B0A-9696-0A04D0BF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2685327"/>
            <a:ext cx="6437694" cy="6437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hape 6">
            <a:extLst>
              <a:ext uri="{FF2B5EF4-FFF2-40B4-BE49-F238E27FC236}">
                <a16:creationId xmlns:a16="http://schemas.microsoft.com/office/drawing/2014/main" id="{16D785EF-EC7D-47A4-A128-0506E3B9B0FF}"/>
              </a:ext>
            </a:extLst>
          </p:cNvPr>
          <p:cNvSpPr/>
          <p:nvPr/>
        </p:nvSpPr>
        <p:spPr>
          <a:xfrm>
            <a:off x="7917325" y="2685327"/>
            <a:ext cx="9322925" cy="1747777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80F69FCA-4EA2-4144-896E-6CA673D2C72E}"/>
              </a:ext>
            </a:extLst>
          </p:cNvPr>
          <p:cNvSpPr/>
          <p:nvPr/>
        </p:nvSpPr>
        <p:spPr>
          <a:xfrm>
            <a:off x="8251834" y="2895297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C2817BD-BB77-477E-83B6-BA5704471616}"/>
              </a:ext>
            </a:extLst>
          </p:cNvPr>
          <p:cNvSpPr/>
          <p:nvPr/>
        </p:nvSpPr>
        <p:spPr>
          <a:xfrm>
            <a:off x="8213734" y="28714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1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ABADDDB-B9FA-4495-A133-479E0473C19C}"/>
              </a:ext>
            </a:extLst>
          </p:cNvPr>
          <p:cNvSpPr/>
          <p:nvPr/>
        </p:nvSpPr>
        <p:spPr>
          <a:xfrm>
            <a:off x="8866981" y="2867317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D646D6B-071E-4F2F-8F5A-EE762A5B9751}"/>
              </a:ext>
            </a:extLst>
          </p:cNvPr>
          <p:cNvSpPr/>
          <p:nvPr/>
        </p:nvSpPr>
        <p:spPr>
          <a:xfrm>
            <a:off x="10124457" y="2864699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(12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항목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3E68A87D-BA74-4192-BE7E-CA68FA210264}"/>
              </a:ext>
            </a:extLst>
          </p:cNvPr>
          <p:cNvSpPr/>
          <p:nvPr/>
        </p:nvSpPr>
        <p:spPr>
          <a:xfrm>
            <a:off x="8251834" y="3414200"/>
            <a:ext cx="8872910" cy="88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기본 정보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일수 및 </a:t>
            </a:r>
            <a:r>
              <a:rPr kumimoji="0" lang="ko-KR" altLang="en-US" sz="16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시수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자유학기제 운영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현황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 학생수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학년별 학급별 학생수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전출입 정보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교원 현황 등등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05186236-3922-4512-942F-8F68F752AACE}"/>
              </a:ext>
            </a:extLst>
          </p:cNvPr>
          <p:cNvSpPr/>
          <p:nvPr/>
        </p:nvSpPr>
        <p:spPr>
          <a:xfrm>
            <a:off x="7917325" y="5036956"/>
            <a:ext cx="9322925" cy="1747777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F7F7B5C-88E8-42F8-BFEC-10B7A22F2647}"/>
              </a:ext>
            </a:extLst>
          </p:cNvPr>
          <p:cNvSpPr/>
          <p:nvPr/>
        </p:nvSpPr>
        <p:spPr>
          <a:xfrm>
            <a:off x="8251834" y="5246926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0DDE5DBD-72E8-428A-9234-DB1E074F170F}"/>
              </a:ext>
            </a:extLst>
          </p:cNvPr>
          <p:cNvSpPr/>
          <p:nvPr/>
        </p:nvSpPr>
        <p:spPr>
          <a:xfrm>
            <a:off x="8213734" y="5223117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2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B56EEAE-16CC-49E9-AB46-B529914F8E7D}"/>
              </a:ext>
            </a:extLst>
          </p:cNvPr>
          <p:cNvSpPr/>
          <p:nvPr/>
        </p:nvSpPr>
        <p:spPr>
          <a:xfrm>
            <a:off x="8866981" y="5218946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재정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390CEE7-F0DB-4F26-BA33-C886AEB53E47}"/>
              </a:ext>
            </a:extLst>
          </p:cNvPr>
          <p:cNvSpPr/>
          <p:nvPr/>
        </p:nvSpPr>
        <p:spPr>
          <a:xfrm>
            <a:off x="10124457" y="5216328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(10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항목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0EF9688B-EE0F-41B1-B9AE-319B818A8B9E}"/>
              </a:ext>
            </a:extLst>
          </p:cNvPr>
          <p:cNvSpPr/>
          <p:nvPr/>
        </p:nvSpPr>
        <p:spPr>
          <a:xfrm>
            <a:off x="8251834" y="5765829"/>
            <a:ext cx="8872910" cy="88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용지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지원시설 현황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 개방 사항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회계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발전기금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시설안전 점검 현황</a:t>
            </a:r>
            <a:r>
              <a:rPr lang="en-US" altLang="ko-KR" sz="16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lang="ko-KR" altLang="en-US" sz="16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교복 구매 등등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5D1C68E7-8E59-4985-AA06-0E0BE0168EA8}"/>
              </a:ext>
            </a:extLst>
          </p:cNvPr>
          <p:cNvSpPr/>
          <p:nvPr/>
        </p:nvSpPr>
        <p:spPr>
          <a:xfrm>
            <a:off x="7917325" y="7375244"/>
            <a:ext cx="9322925" cy="1747777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8082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236370AF-0011-4302-ADB4-1B580FF5D19E}"/>
              </a:ext>
            </a:extLst>
          </p:cNvPr>
          <p:cNvSpPr/>
          <p:nvPr/>
        </p:nvSpPr>
        <p:spPr>
          <a:xfrm>
            <a:off x="8251834" y="7585214"/>
            <a:ext cx="438150" cy="43815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87DBD49D-6099-4A56-A721-A12D362A6D6B}"/>
              </a:ext>
            </a:extLst>
          </p:cNvPr>
          <p:cNvSpPr/>
          <p:nvPr/>
        </p:nvSpPr>
        <p:spPr>
          <a:xfrm>
            <a:off x="8213734" y="7561405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3</a:t>
            </a:r>
            <a:endParaRPr kumimoji="0" lang="en-US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0198A29-B090-4457-941A-547DA2503931}"/>
              </a:ext>
            </a:extLst>
          </p:cNvPr>
          <p:cNvSpPr/>
          <p:nvPr/>
        </p:nvSpPr>
        <p:spPr>
          <a:xfrm>
            <a:off x="8866981" y="7557234"/>
            <a:ext cx="6270456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</a:t>
            </a:r>
            <a:r>
              <a:rPr kumimoji="0" lang="en-US" altLang="ko-KR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kumimoji="0" lang="ko-KR" altLang="en-US" sz="2175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복지</a:t>
            </a:r>
            <a:endParaRPr kumimoji="0" lang="en-US" sz="21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8AB2693-555D-4F8E-96AA-E23B0378DC8B}"/>
              </a:ext>
            </a:extLst>
          </p:cNvPr>
          <p:cNvSpPr/>
          <p:nvPr/>
        </p:nvSpPr>
        <p:spPr>
          <a:xfrm>
            <a:off x="10124457" y="7554616"/>
            <a:ext cx="4181857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 항목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E5E61CB-86B0-4E5C-8142-362B22FA9667}"/>
              </a:ext>
            </a:extLst>
          </p:cNvPr>
          <p:cNvSpPr/>
          <p:nvPr/>
        </p:nvSpPr>
        <p:spPr>
          <a:xfrm>
            <a:off x="8251834" y="8104117"/>
            <a:ext cx="8872910" cy="88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702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특색사업 계획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급식 실시 현황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장학금 수혜 현황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계획 및 실시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방과후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학교 운영 계획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학부모 상담 현황</a:t>
            </a:r>
            <a:r>
              <a:rPr kumimoji="0" lang="en-US" altLang="ko-KR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</a:t>
            </a: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동아리 등등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64691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학교 </a:t>
            </a:r>
            <a:r>
              <a:rPr kumimoji="0" lang="ko-KR" altLang="en-US" sz="46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알리미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 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API 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발급받기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F55C522-7022-4E62-B276-1BFE2FCB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028" y="3783475"/>
            <a:ext cx="8302008" cy="5119868"/>
          </a:xfrm>
          <a:prstGeom prst="rect">
            <a:avLst/>
          </a:prstGeom>
        </p:spPr>
      </p:pic>
      <p:pic>
        <p:nvPicPr>
          <p:cNvPr id="37" name="Picture 2" descr="왼쪽 클릭 - 무료 손과 몸짓개 아이콘">
            <a:extLst>
              <a:ext uri="{FF2B5EF4-FFF2-40B4-BE49-F238E27FC236}">
                <a16:creationId xmlns:a16="http://schemas.microsoft.com/office/drawing/2014/main" id="{42840A53-B777-471E-BE00-7FC70E286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635" y="7531660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왼쪽 클릭 - 무료 손과 몸짓개 아이콘">
            <a:extLst>
              <a:ext uri="{FF2B5EF4-FFF2-40B4-BE49-F238E27FC236}">
                <a16:creationId xmlns:a16="http://schemas.microsoft.com/office/drawing/2014/main" id="{DF723D0E-119A-458D-9132-3C332EBF8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273" y="6052030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 16">
            <a:extLst>
              <a:ext uri="{FF2B5EF4-FFF2-40B4-BE49-F238E27FC236}">
                <a16:creationId xmlns:a16="http://schemas.microsoft.com/office/drawing/2014/main" id="{9B421141-CDEC-4CE2-9F91-10F5B13FB74F}"/>
              </a:ext>
            </a:extLst>
          </p:cNvPr>
          <p:cNvSpPr/>
          <p:nvPr/>
        </p:nvSpPr>
        <p:spPr>
          <a:xfrm>
            <a:off x="3943021" y="2837099"/>
            <a:ext cx="957202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 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</a:t>
            </a:r>
            <a:r>
              <a:rPr kumimoji="0" lang="ko-KR" altLang="en-US" sz="2850" b="1" i="0" u="none" strike="noStrike" kern="1200" cap="none" spc="0" normalizeH="0" baseline="0" noProof="0" dirty="0" err="1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알리미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로그인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링크 클릭 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가이드라인 따라 진행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96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90588"/>
            <a:ext cx="1134368" cy="600075"/>
          </a:xfrm>
          <a:prstGeom prst="roundRect">
            <a:avLst>
              <a:gd name="adj" fmla="val 50000"/>
            </a:avLst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52550" y="1004888"/>
            <a:ext cx="6009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72618" y="762000"/>
            <a:ext cx="1285966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보너스 트랙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: NEIS (</a:t>
            </a:r>
            <a:r>
              <a:rPr kumimoji="0" lang="ko-KR" altLang="en-US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대학 진학 자료</a:t>
            </a:r>
            <a:r>
              <a:rPr kumimoji="0" lang="en-US" altLang="ko-KR" sz="46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+mn-cs"/>
              </a:rPr>
              <a:t>)</a:t>
            </a:r>
            <a:endParaRPr kumimoji="0" lang="en-US" sz="4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171218" y="914400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711613" y="1019175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7750" y="1962150"/>
            <a:ext cx="16192500" cy="38100"/>
          </a:xfrm>
          <a:prstGeom prst="rect">
            <a:avLst/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9B421141-CDEC-4CE2-9F91-10F5B13FB74F}"/>
              </a:ext>
            </a:extLst>
          </p:cNvPr>
          <p:cNvSpPr/>
          <p:nvPr/>
        </p:nvSpPr>
        <p:spPr>
          <a:xfrm>
            <a:off x="3943021" y="2837099"/>
            <a:ext cx="957202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‘NEIS API’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인증키 신청 </a:t>
            </a:r>
            <a:r>
              <a:rPr kumimoji="0" lang="en-US" altLang="ko-KR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lang="en-US" altLang="ko-KR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API</a:t>
            </a:r>
            <a:r>
              <a:rPr lang="ko-KR" altLang="en-US" sz="28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anose="05000000000000000000" pitchFamily="2" charset="2"/>
              </a:rPr>
              <a:t> 키 발급</a:t>
            </a:r>
            <a:r>
              <a:rPr kumimoji="0" lang="ko-KR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kumimoji="0" lang="en-US" sz="2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F062C59-0E2E-49DC-9FA6-98DE9FC5E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19" y="3886502"/>
            <a:ext cx="7058025" cy="1495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856199-0ABB-490B-9F37-B0B285C8C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908" y="5831044"/>
            <a:ext cx="2838245" cy="2810004"/>
          </a:xfrm>
          <a:prstGeom prst="rect">
            <a:avLst/>
          </a:prstGeom>
        </p:spPr>
      </p:pic>
      <p:pic>
        <p:nvPicPr>
          <p:cNvPr id="37" name="Picture 2" descr="왼쪽 클릭 - 무료 손과 몸짓개 아이콘">
            <a:extLst>
              <a:ext uri="{FF2B5EF4-FFF2-40B4-BE49-F238E27FC236}">
                <a16:creationId xmlns:a16="http://schemas.microsoft.com/office/drawing/2014/main" id="{42840A53-B777-471E-BE00-7FC70E286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548" y="4386394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왼쪽 클릭 - 무료 손과 몸짓개 아이콘">
            <a:extLst>
              <a:ext uri="{FF2B5EF4-FFF2-40B4-BE49-F238E27FC236}">
                <a16:creationId xmlns:a16="http://schemas.microsoft.com/office/drawing/2014/main" id="{F0D08444-F623-4E76-AC22-DFA807446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526" y="7365197"/>
            <a:ext cx="1095229" cy="109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227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4295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2286000" y="0"/>
                </a:moveTo>
                <a:lnTo>
                  <a:pt x="2377440" y="0"/>
                </a:lnTo>
                <a:arcTo wR="2194560" hR="2194560" stAng="16200000" swAng="5400000"/>
                <a:lnTo>
                  <a:pt x="4572000" y="2514600"/>
                </a:lnTo>
                <a:arcTo wR="2057400" hR="2057400" stAng="0" swAng="5400000"/>
                <a:lnTo>
                  <a:pt x="2286000" y="4572000"/>
                </a:lnTo>
                <a:arcTo wR="2286000" hR="2286000" stAng="5400000" swAng="5400000"/>
                <a:lnTo>
                  <a:pt x="0" y="2286000"/>
                </a:lnTo>
                <a:arcTo wR="2286000" hR="2286000" stAng="10800000" swAng="5400000"/>
                <a:close/>
              </a:path>
            </a:pathLst>
          </a:custGeom>
          <a:solidFill>
            <a:srgbClr val="E8620D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8953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097280" y="0"/>
                </a:moveTo>
                <a:lnTo>
                  <a:pt x="1143000" y="0"/>
                </a:lnTo>
                <a:arcTo wR="1143000" hR="1143000" stAng="16200000" swAng="5400000"/>
                <a:lnTo>
                  <a:pt x="2286000" y="1143000"/>
                </a:lnTo>
                <a:arcTo wR="1143000" hR="1143000" stAng="0" swAng="5400000"/>
                <a:lnTo>
                  <a:pt x="1028700" y="2286000"/>
                </a:lnTo>
                <a:arcTo wR="1028700" hR="1028700" stAng="5400000" swAng="5400000"/>
                <a:lnTo>
                  <a:pt x="0" y="1097280"/>
                </a:lnTo>
                <a:arcTo wR="1097280" hR="1097280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1992511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52550" y="876300"/>
            <a:ext cx="1459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25" b="1" kern="0" spc="203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kumimoji="0" lang="ko-KR" alt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kumimoji="0" lang="en-US" altLang="ko-KR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49" y="2771775"/>
            <a:ext cx="1408369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이렇게</a:t>
            </a: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쉽게 보고서</a:t>
            </a: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</a:t>
            </a:r>
            <a:r>
              <a:rPr kumimoji="0" lang="en-US" altLang="ko-KR" sz="9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kumimoji="0" lang="en-US" sz="9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886325"/>
            <a:ext cx="12001500" cy="195409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1625" y="53340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3525" y="5334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00275" y="5334000"/>
            <a:ext cx="54442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화면을 보며 실습을 따라해보세요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71625" y="600075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33525" y="6000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00274" y="6000750"/>
            <a:ext cx="86723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따라오기 어려우신 부분이 있으시면 언제든 질문주세요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327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4295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2286000" y="0"/>
                </a:moveTo>
                <a:lnTo>
                  <a:pt x="2377440" y="0"/>
                </a:lnTo>
                <a:arcTo wR="2194560" hR="2194560" stAng="16200000" swAng="5400000"/>
                <a:lnTo>
                  <a:pt x="4572000" y="2514600"/>
                </a:lnTo>
                <a:arcTo wR="2057400" hR="2057400" stAng="0" swAng="5400000"/>
                <a:lnTo>
                  <a:pt x="2286000" y="4572000"/>
                </a:lnTo>
                <a:arcTo wR="2286000" hR="2286000" stAng="5400000" swAng="5400000"/>
                <a:lnTo>
                  <a:pt x="0" y="2286000"/>
                </a:lnTo>
                <a:arcTo wR="2286000" hR="2286000" stAng="10800000" swAng="5400000"/>
                <a:close/>
              </a:path>
            </a:pathLst>
          </a:custGeom>
          <a:solidFill>
            <a:srgbClr val="E8620D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8953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097280" y="0"/>
                </a:moveTo>
                <a:lnTo>
                  <a:pt x="1143000" y="0"/>
                </a:lnTo>
                <a:arcTo wR="1143000" hR="1143000" stAng="16200000" swAng="5400000"/>
                <a:lnTo>
                  <a:pt x="2286000" y="1143000"/>
                </a:lnTo>
                <a:arcTo wR="1143000" hR="1143000" stAng="0" swAng="5400000"/>
                <a:lnTo>
                  <a:pt x="1028700" y="2286000"/>
                </a:lnTo>
                <a:arcTo wR="1028700" hR="1028700" stAng="5400000" swAng="5400000"/>
                <a:lnTo>
                  <a:pt x="0" y="1097280"/>
                </a:lnTo>
                <a:arcTo wR="1097280" hR="1097280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1992511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52550" y="876300"/>
            <a:ext cx="1459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</a:t>
            </a:r>
            <a:r>
              <a:rPr kumimoji="0" lang="en-US" altLang="ko-KR" sz="2025" b="1" i="0" u="none" strike="noStrike" kern="0" cap="none" spc="203" normalizeH="0" baseline="0" noProof="0" dirty="0">
                <a:ln>
                  <a:noFill/>
                </a:ln>
                <a:solidFill>
                  <a:srgbClr val="F3ECD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49" y="2771775"/>
            <a:ext cx="14083691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</a:t>
            </a: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E8620D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것만 </a:t>
            </a:r>
            <a:r>
              <a:rPr kumimoji="0" lang="ko-KR" altLang="en-US" sz="9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쏙쏙</a:t>
            </a:r>
            <a:r>
              <a:rPr kumimoji="0" lang="en-US" altLang="ko-KR" sz="9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kumimoji="0" lang="en-US" sz="9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47750" y="4886325"/>
            <a:ext cx="12001500" cy="195409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1625" y="53340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3525" y="5334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00275" y="5334000"/>
            <a:ext cx="54442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강사의 화면을 보며 실습을 따라해보세요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571625" y="600075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33525" y="6000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00274" y="6000750"/>
            <a:ext cx="867231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1C1712"/>
                </a:solidFill>
                <a:effectLst/>
                <a:uLnTx/>
                <a:uFillTx/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따라오기 어려우신 부분이 있으시면 언제든 질문주세요</a:t>
            </a:r>
            <a:endParaRPr kumimoji="0" lang="en-US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020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7429500"/>
            <a:ext cx="4572000" cy="4572000"/>
          </a:xfrm>
          <a:custGeom>
            <a:avLst/>
            <a:gdLst/>
            <a:ahLst/>
            <a:cxnLst/>
            <a:rect l="l" t="t" r="r" b="b"/>
            <a:pathLst>
              <a:path w="4572000" h="4572000">
                <a:moveTo>
                  <a:pt x="2286000" y="0"/>
                </a:moveTo>
                <a:lnTo>
                  <a:pt x="2377440" y="0"/>
                </a:lnTo>
                <a:arcTo wR="2194560" hR="2194560" stAng="16200000" swAng="5400000"/>
                <a:lnTo>
                  <a:pt x="4572000" y="2514600"/>
                </a:lnTo>
                <a:arcTo wR="2057400" hR="2057400" stAng="0" swAng="5400000"/>
                <a:lnTo>
                  <a:pt x="2286000" y="4572000"/>
                </a:lnTo>
                <a:arcTo wR="2286000" hR="2286000" stAng="5400000" swAng="5400000"/>
                <a:lnTo>
                  <a:pt x="0" y="2286000"/>
                </a:lnTo>
                <a:arcTo wR="2286000" hR="2286000" stAng="10800000" swAng="5400000"/>
                <a:close/>
              </a:path>
            </a:pathLst>
          </a:custGeom>
          <a:solidFill>
            <a:srgbClr val="E8620D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0" y="8953500"/>
            <a:ext cx="2286000" cy="2286000"/>
          </a:xfrm>
          <a:custGeom>
            <a:avLst/>
            <a:gdLst/>
            <a:ahLst/>
            <a:cxnLst/>
            <a:rect l="l" t="t" r="r" b="b"/>
            <a:pathLst>
              <a:path w="2286000" h="2286000">
                <a:moveTo>
                  <a:pt x="1097280" y="0"/>
                </a:moveTo>
                <a:lnTo>
                  <a:pt x="1143000" y="0"/>
                </a:lnTo>
                <a:arcTo wR="1143000" hR="1143000" stAng="16200000" swAng="5400000"/>
                <a:lnTo>
                  <a:pt x="2286000" y="1143000"/>
                </a:lnTo>
                <a:arcTo wR="1143000" hR="1143000" stAng="0" swAng="5400000"/>
                <a:lnTo>
                  <a:pt x="1028700" y="2286000"/>
                </a:lnTo>
                <a:arcTo wR="1028700" hR="1028700" stAng="5400000" swAng="5400000"/>
                <a:lnTo>
                  <a:pt x="0" y="1097280"/>
                </a:lnTo>
                <a:arcTo wR="1097280" hR="1097280" stAng="10800000" swAng="5400000"/>
                <a:close/>
              </a:path>
            </a:pathLst>
          </a:custGeom>
          <a:solidFill>
            <a:srgbClr val="F0A0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7750" y="762000"/>
            <a:ext cx="1992511" cy="600075"/>
          </a:xfrm>
          <a:prstGeom prst="roundRect">
            <a:avLst>
              <a:gd name="adj" fmla="val 50000"/>
            </a:avLst>
          </a:prstGeom>
          <a:solidFill>
            <a:srgbClr val="1C17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52550" y="876300"/>
            <a:ext cx="14591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b="1" kern="0" spc="203" dirty="0">
                <a:solidFill>
                  <a:srgbClr val="F3EC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6171218" y="785813"/>
            <a:ext cx="5403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711613" y="890588"/>
            <a:ext cx="6048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20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771775"/>
            <a:ext cx="5783744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900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6534299" y="3243263"/>
            <a:ext cx="48041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E8620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✦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047750" y="4886325"/>
            <a:ext cx="12001500" cy="2647950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107763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71625" y="53340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33525" y="53340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00275" y="5334000"/>
            <a:ext cx="544420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2250" b="1" dirty="0" err="1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</a:t>
            </a: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코딩을 할 수 있는 기초 지식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571625" y="600075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533525" y="6000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00274" y="6000750"/>
            <a:ext cx="88780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</a:t>
            </a: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 후 학교 분석 보고서 작성 </a:t>
            </a:r>
            <a:r>
              <a:rPr lang="en-US" altLang="ko-KR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(with </a:t>
            </a: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제공된 컨텍스트 </a:t>
            </a:r>
            <a:r>
              <a:rPr lang="en-US" altLang="ko-KR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</a:t>
            </a: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</a:t>
            </a:r>
            <a:r>
              <a:rPr lang="en-US" altLang="ko-KR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571625" y="6667500"/>
            <a:ext cx="419100" cy="419100"/>
          </a:xfrm>
          <a:prstGeom prst="ellipse">
            <a:avLst/>
          </a:prstGeom>
          <a:solidFill>
            <a:srgbClr val="E862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533525" y="666750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00275" y="6667500"/>
            <a:ext cx="88780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2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커스터마이징 및 기능 추가 방법 확인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443692" y="9058275"/>
            <a:ext cx="290947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질문은 언제든 환영합니다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279166" y="8943975"/>
            <a:ext cx="2961084" cy="5810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C1712"/>
            </a:solidFill>
            <a:prstDash val="solid"/>
          </a:ln>
          <a:effectLst>
            <a:outerShdw blurRad="101600" dist="53882" dir="2700000" algn="bl" rotWithShape="0">
              <a:srgbClr val="1C1712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574441" y="9067800"/>
            <a:ext cx="24593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C1712"/>
                </a:solidFill>
                <a:latin typeface="Noto Sans KR" pitchFamily="34" charset="0"/>
                <a:ea typeface="Noto Sans KR" pitchFamily="34" charset="-122"/>
              </a:rPr>
              <a:t>collec@collec.ai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1566</Words>
  <Application>Microsoft Office PowerPoint</Application>
  <PresentationFormat>사용자 지정</PresentationFormat>
  <Paragraphs>328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세준 이</cp:lastModifiedBy>
  <cp:revision>37</cp:revision>
  <dcterms:created xsi:type="dcterms:W3CDTF">2026-08-16T05:16:42Z</dcterms:created>
  <dcterms:modified xsi:type="dcterms:W3CDTF">2026-08-29T16:35:55Z</dcterms:modified>
</cp:coreProperties>
</file>